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7"/>
  </p:notesMasterIdLst>
  <p:sldIdLst>
    <p:sldId id="256" r:id="rId2"/>
    <p:sldId id="262" r:id="rId3"/>
    <p:sldId id="264" r:id="rId4"/>
    <p:sldId id="266" r:id="rId5"/>
    <p:sldId id="265" r:id="rId6"/>
  </p:sldIdLst>
  <p:sldSz cx="12192000" cy="6858000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4B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247" autoAdjust="0"/>
  </p:normalViewPr>
  <p:slideViewPr>
    <p:cSldViewPr snapToGrid="0">
      <p:cViewPr>
        <p:scale>
          <a:sx n="86" d="100"/>
          <a:sy n="86" d="100"/>
        </p:scale>
        <p:origin x="30" y="-23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57E5BBBB-1B90-4927-A9C6-94CA1E76F9D9}" type="datetimeFigureOut">
              <a:rPr kumimoji="1" lang="ja-JP" altLang="en-US" smtClean="0"/>
              <a:t>2026/8/18</a:t>
            </a:fld>
            <a:endParaRPr kumimoji="1" lang="ja-JP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ja-JP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623DF577-0044-4E91-A140-DE0DEBE31F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25026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ja-JP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C9D33-CABD-425B-8B1B-454427432ACE}" type="datetimeFigureOut">
              <a:rPr kumimoji="1" lang="ja-JP" altLang="en-US" smtClean="0"/>
              <a:t>2026/8/18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773A9-02C5-4700-96E3-0D3AAE5FF8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26074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C9D33-CABD-425B-8B1B-454427432ACE}" type="datetimeFigureOut">
              <a:rPr kumimoji="1" lang="ja-JP" altLang="en-US" smtClean="0"/>
              <a:t>2026/8/18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773A9-02C5-4700-96E3-0D3AAE5FF8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46871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ja-JP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C9D33-CABD-425B-8B1B-454427432ACE}" type="datetimeFigureOut">
              <a:rPr kumimoji="1" lang="ja-JP" altLang="en-US" smtClean="0"/>
              <a:t>2026/8/18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773A9-02C5-4700-96E3-0D3AAE5FF8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0040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C9D33-CABD-425B-8B1B-454427432ACE}" type="datetimeFigureOut">
              <a:rPr kumimoji="1" lang="ja-JP" altLang="en-US" smtClean="0"/>
              <a:t>2026/8/18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773A9-02C5-4700-96E3-0D3AAE5FF8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014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 altLang="ja-JP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C9D33-CABD-425B-8B1B-454427432ACE}" type="datetimeFigureOut">
              <a:rPr kumimoji="1" lang="ja-JP" altLang="en-US" smtClean="0"/>
              <a:t>2026/8/18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773A9-02C5-4700-96E3-0D3AAE5FF8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91604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C9D33-CABD-425B-8B1B-454427432ACE}" type="datetimeFigureOut">
              <a:rPr kumimoji="1" lang="ja-JP" altLang="en-US" smtClean="0"/>
              <a:t>2026/8/18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773A9-02C5-4700-96E3-0D3AAE5FF8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3309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C9D33-CABD-425B-8B1B-454427432ACE}" type="datetimeFigureOut">
              <a:rPr kumimoji="1" lang="ja-JP" altLang="en-US" smtClean="0"/>
              <a:t>2026/8/18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773A9-02C5-4700-96E3-0D3AAE5FF8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4790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C9D33-CABD-425B-8B1B-454427432ACE}" type="datetimeFigureOut">
              <a:rPr kumimoji="1" lang="ja-JP" altLang="en-US" smtClean="0"/>
              <a:t>2026/8/18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773A9-02C5-4700-96E3-0D3AAE5FF8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2938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ja-JP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C9D33-CABD-425B-8B1B-454427432ACE}" type="datetimeFigureOut">
              <a:rPr kumimoji="1" lang="ja-JP" altLang="en-US" smtClean="0"/>
              <a:t>2026/8/18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773A9-02C5-4700-96E3-0D3AAE5FF8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00894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ja-JP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C9D33-CABD-425B-8B1B-454427432ACE}" type="datetimeFigureOut">
              <a:rPr kumimoji="1" lang="ja-JP" altLang="en-US" smtClean="0"/>
              <a:t>2026/8/18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773A9-02C5-4700-96E3-0D3AAE5FF8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4194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C9D33-CABD-425B-8B1B-454427432ACE}" type="datetimeFigureOut">
              <a:rPr kumimoji="1" lang="ja-JP" altLang="en-US" smtClean="0"/>
              <a:t>2026/8/18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773A9-02C5-4700-96E3-0D3AAE5FF8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122107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C9D33-CABD-425B-8B1B-454427432ACE}" type="datetimeFigureOut">
              <a:rPr kumimoji="1" lang="ja-JP" altLang="en-US" smtClean="0"/>
              <a:t>2026/8/18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773A9-02C5-4700-96E3-0D3AAE5FF80F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200705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C9D33-CABD-425B-8B1B-454427432ACE}" type="datetimeFigureOut">
              <a:rPr kumimoji="1" lang="ja-JP" altLang="en-US" smtClean="0"/>
              <a:t>2026/8/18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773A9-02C5-4700-96E3-0D3AAE5FF8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20039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 altLang="ja-JP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 altLang="ja-JP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C9D33-CABD-425B-8B1B-454427432ACE}" type="datetimeFigureOut">
              <a:rPr kumimoji="1" lang="ja-JP" altLang="en-US" smtClean="0"/>
              <a:t>2026/8/18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773A9-02C5-4700-96E3-0D3AAE5FF8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7938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altLang="ja-JP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altLang="ja-JP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altLang="ja-JP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C9D33-CABD-425B-8B1B-454427432ACE}" type="datetimeFigureOut">
              <a:rPr kumimoji="1" lang="ja-JP" altLang="en-US" smtClean="0"/>
              <a:t>2026/8/18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773A9-02C5-4700-96E3-0D3AAE5FF8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79072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C9D33-CABD-425B-8B1B-454427432ACE}" type="datetimeFigureOut">
              <a:rPr kumimoji="1" lang="ja-JP" altLang="en-US" smtClean="0"/>
              <a:t>2026/8/18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773A9-02C5-4700-96E3-0D3AAE5FF8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99792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C9D33-CABD-425B-8B1B-454427432ACE}" type="datetimeFigureOut">
              <a:rPr kumimoji="1" lang="ja-JP" altLang="en-US" smtClean="0"/>
              <a:t>2026/8/18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773A9-02C5-4700-96E3-0D3AAE5FF8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8976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13EC9D33-CABD-425B-8B1B-454427432ACE}" type="datetimeFigureOut">
              <a:rPr kumimoji="1" lang="ja-JP" altLang="en-US" smtClean="0"/>
              <a:t>2026/8/18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FB3773A9-02C5-4700-96E3-0D3AAE5FF8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53609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5C0E5D2-453A-985A-D252-117B00A18C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24308"/>
            <a:ext cx="12192000" cy="79066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5515EA2-516D-EA13-6FEC-AAF6F508DD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0449"/>
            <a:ext cx="9144000" cy="1027522"/>
          </a:xfrm>
        </p:spPr>
        <p:txBody>
          <a:bodyPr>
            <a:normAutofit/>
          </a:bodyPr>
          <a:lstStyle/>
          <a:p>
            <a:pPr algn="ctr"/>
            <a:r>
              <a:rPr lang="ja-JP" altLang="ja-JP" sz="6600" b="1" u="sng" dirty="0"/>
              <a:t>CRADLE PROTOCOL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A048CC-7EEE-617E-81B6-A153BE2EA6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876" y="4226684"/>
            <a:ext cx="12192000" cy="3155623"/>
          </a:xfrm>
        </p:spPr>
        <p:txBody>
          <a:bodyPr>
            <a:noAutofit/>
          </a:bodyPr>
          <a:lstStyle/>
          <a:p>
            <a:pPr algn="l"/>
            <a:endParaRPr lang="en-US" altLang="ja-JP" sz="1400" b="1" dirty="0"/>
          </a:p>
          <a:p>
            <a:pPr algn="l"/>
            <a:endParaRPr lang="en-US" altLang="ja-JP" sz="1400" b="1" dirty="0"/>
          </a:p>
          <a:p>
            <a:pPr algn="l"/>
            <a:r>
              <a:rPr lang="ja-JP" altLang="ja-JP" sz="1400" b="1" dirty="0"/>
              <a:t>■ ジャンル</a:t>
            </a:r>
            <a:r>
              <a:rPr lang="ja-JP" altLang="en-US" sz="1400" dirty="0"/>
              <a:t>：</a:t>
            </a:r>
            <a:r>
              <a:rPr lang="ja-JP" altLang="ja-JP" sz="1400" dirty="0"/>
              <a:t>SFサスペンス</a:t>
            </a:r>
            <a:r>
              <a:rPr lang="en-US" altLang="ja-JP" sz="1400" dirty="0"/>
              <a:t>ADV</a:t>
            </a:r>
            <a:r>
              <a:rPr lang="ja-JP" altLang="ja-JP" sz="1400" dirty="0"/>
              <a:t>・</a:t>
            </a:r>
            <a:r>
              <a:rPr lang="ja-JP" altLang="en-US" sz="1400" dirty="0"/>
              <a:t>３</a:t>
            </a:r>
            <a:r>
              <a:rPr lang="en-US" altLang="ja-JP" sz="1400" dirty="0"/>
              <a:t>D</a:t>
            </a:r>
            <a:r>
              <a:rPr lang="ja-JP" altLang="ja-JP" sz="1400" dirty="0"/>
              <a:t>探索</a:t>
            </a:r>
            <a:r>
              <a:rPr lang="ja-JP" altLang="en-US" sz="1400" dirty="0"/>
              <a:t>ホラー</a:t>
            </a:r>
            <a:endParaRPr lang="ja-JP" altLang="ja-JP" sz="1400" dirty="0"/>
          </a:p>
          <a:p>
            <a:pPr algn="l"/>
            <a:r>
              <a:rPr lang="ja-JP" altLang="ja-JP" sz="1400" b="1" dirty="0"/>
              <a:t>■ プラットフォーム </a:t>
            </a:r>
            <a:r>
              <a:rPr lang="ja-JP" altLang="en-US" sz="1400" dirty="0"/>
              <a:t>：</a:t>
            </a:r>
            <a:r>
              <a:rPr lang="ja-JP" altLang="ja-JP" sz="1400" dirty="0"/>
              <a:t>PC</a:t>
            </a:r>
          </a:p>
          <a:p>
            <a:pPr algn="l"/>
            <a:r>
              <a:rPr lang="ja-JP" altLang="ja-JP" sz="1400" b="1" dirty="0"/>
              <a:t>■ ターゲット層</a:t>
            </a:r>
            <a:endParaRPr lang="en-US" altLang="ja-JP" sz="1400" dirty="0"/>
          </a:p>
          <a:p>
            <a:pPr algn="l"/>
            <a:r>
              <a:rPr lang="ja-JP" altLang="en-US" sz="1400" b="1" dirty="0"/>
              <a:t>・</a:t>
            </a:r>
            <a:r>
              <a:rPr lang="ja-JP" altLang="ja-JP" sz="1400" b="1" dirty="0"/>
              <a:t>「考察」を愛する層</a:t>
            </a:r>
            <a:r>
              <a:rPr lang="ja-JP" altLang="ja-JP" sz="1400" dirty="0"/>
              <a:t> 『パラノマサイト』などのミステリーADVを</a:t>
            </a:r>
            <a:r>
              <a:rPr lang="ja-JP" altLang="en-US" sz="1400" dirty="0"/>
              <a:t>好む</a:t>
            </a:r>
            <a:r>
              <a:rPr lang="ja-JP" altLang="ja-JP" sz="1400" dirty="0"/>
              <a:t>プレイヤー。</a:t>
            </a:r>
            <a:endParaRPr lang="en-US" altLang="ja-JP" sz="1400" dirty="0"/>
          </a:p>
          <a:p>
            <a:pPr algn="l"/>
            <a:r>
              <a:rPr lang="ja-JP" altLang="en-US" sz="1400" b="1" dirty="0"/>
              <a:t>・</a:t>
            </a:r>
            <a:r>
              <a:rPr lang="ja-JP" altLang="ja-JP" sz="1400" b="1" dirty="0"/>
              <a:t>「心理戦」と「矛盾探し」を好む層</a:t>
            </a:r>
            <a:r>
              <a:rPr lang="ja-JP" altLang="ja-JP" sz="1400" dirty="0"/>
              <a:t> マダミスや推理デスゲーム</a:t>
            </a:r>
            <a:r>
              <a:rPr lang="ja-JP" altLang="en-US" sz="1400" dirty="0"/>
              <a:t>が好きなプレイヤー</a:t>
            </a:r>
            <a:r>
              <a:rPr lang="ja-JP" altLang="ja-JP" sz="1400" dirty="0"/>
              <a:t>。</a:t>
            </a:r>
            <a:endParaRPr lang="en-US" altLang="ja-JP" sz="1400" dirty="0"/>
          </a:p>
          <a:p>
            <a:pPr algn="l"/>
            <a:r>
              <a:rPr lang="ja-JP" altLang="ja-JP" sz="1400" b="1" dirty="0"/>
              <a:t>■ </a:t>
            </a:r>
            <a:r>
              <a:rPr lang="ja-JP" altLang="en-US" sz="1400" b="1" dirty="0"/>
              <a:t>プレイ人数</a:t>
            </a:r>
            <a:r>
              <a:rPr lang="ja-JP" altLang="en-US" sz="1400" dirty="0"/>
              <a:t>：１人</a:t>
            </a:r>
            <a:endParaRPr lang="en-US" altLang="ja-JP" sz="1400" dirty="0"/>
          </a:p>
        </p:txBody>
      </p:sp>
    </p:spTree>
    <p:extLst>
      <p:ext uri="{BB962C8B-B14F-4D97-AF65-F5344CB8AC3E}">
        <p14:creationId xmlns:p14="http://schemas.microsoft.com/office/powerpoint/2010/main" val="1054831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5444D116-F57B-DCC7-CF89-9146B71479AB}"/>
              </a:ext>
            </a:extLst>
          </p:cNvPr>
          <p:cNvSpPr/>
          <p:nvPr/>
        </p:nvSpPr>
        <p:spPr>
          <a:xfrm>
            <a:off x="58673" y="706272"/>
            <a:ext cx="11983214" cy="10352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0A42DC-947D-C3FA-331C-415800276364}"/>
              </a:ext>
            </a:extLst>
          </p:cNvPr>
          <p:cNvSpPr/>
          <p:nvPr/>
        </p:nvSpPr>
        <p:spPr>
          <a:xfrm>
            <a:off x="777587" y="4615845"/>
            <a:ext cx="2437257" cy="11841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F62ADF8-67EF-2D54-6F86-D816B8BA7ADA}"/>
              </a:ext>
            </a:extLst>
          </p:cNvPr>
          <p:cNvSpPr/>
          <p:nvPr/>
        </p:nvSpPr>
        <p:spPr>
          <a:xfrm>
            <a:off x="4567269" y="2094400"/>
            <a:ext cx="4076296" cy="137163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D690951-08CE-71C9-E532-6239034EF864}"/>
              </a:ext>
            </a:extLst>
          </p:cNvPr>
          <p:cNvSpPr/>
          <p:nvPr/>
        </p:nvSpPr>
        <p:spPr>
          <a:xfrm>
            <a:off x="777587" y="2070350"/>
            <a:ext cx="2437257" cy="12591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14E55E-F73C-E6A9-FA38-141942177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77"/>
            <a:ext cx="10515600" cy="686435"/>
          </a:xfrm>
        </p:spPr>
        <p:txBody>
          <a:bodyPr>
            <a:normAutofit/>
          </a:bodyPr>
          <a:lstStyle/>
          <a:p>
            <a:pPr algn="ctr"/>
            <a:r>
              <a:rPr lang="ja-JP" altLang="en-US" sz="4000" u="sng" dirty="0"/>
              <a:t>コンセプト＆ゲームフロー</a:t>
            </a:r>
            <a:endParaRPr kumimoji="1" lang="ja-JP" altLang="en-US" sz="4000" u="sng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19F157-1156-6DD1-4C13-4D620CFBA1F6}"/>
              </a:ext>
            </a:extLst>
          </p:cNvPr>
          <p:cNvSpPr txBox="1"/>
          <p:nvPr/>
        </p:nvSpPr>
        <p:spPr>
          <a:xfrm>
            <a:off x="5573607" y="1914267"/>
            <a:ext cx="2254377" cy="40011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000" dirty="0"/>
              <a:t>潜水艦の操作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1B546B-DC09-9331-EBF8-FCA28E696A47}"/>
              </a:ext>
            </a:extLst>
          </p:cNvPr>
          <p:cNvSpPr txBox="1"/>
          <p:nvPr/>
        </p:nvSpPr>
        <p:spPr>
          <a:xfrm>
            <a:off x="850846" y="1938454"/>
            <a:ext cx="2254377" cy="40011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000" dirty="0"/>
              <a:t>１日の始まり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2A2037-2B59-3346-1B5D-DE714831B573}"/>
              </a:ext>
            </a:extLst>
          </p:cNvPr>
          <p:cNvSpPr txBox="1"/>
          <p:nvPr/>
        </p:nvSpPr>
        <p:spPr>
          <a:xfrm>
            <a:off x="887208" y="4351152"/>
            <a:ext cx="2254377" cy="40011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ja-JP" altLang="en-US" sz="2000" dirty="0"/>
              <a:t>１</a:t>
            </a:r>
            <a:r>
              <a:rPr lang="ja-JP" altLang="ja-JP" sz="2000" dirty="0"/>
              <a:t>日の終わり</a:t>
            </a:r>
            <a:endParaRPr kumimoji="1" lang="ja-JP" altLang="en-US" sz="2000" dirty="0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78D86CAA-2517-2B05-146A-154A57C6D4AB}"/>
              </a:ext>
            </a:extLst>
          </p:cNvPr>
          <p:cNvSpPr/>
          <p:nvPr/>
        </p:nvSpPr>
        <p:spPr>
          <a:xfrm>
            <a:off x="3311604" y="2495047"/>
            <a:ext cx="951911" cy="6427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87AA1DCB-B341-1279-7F84-0E5BE7A97A32}"/>
              </a:ext>
            </a:extLst>
          </p:cNvPr>
          <p:cNvSpPr/>
          <p:nvPr/>
        </p:nvSpPr>
        <p:spPr>
          <a:xfrm rot="10800000">
            <a:off x="3288101" y="4936068"/>
            <a:ext cx="1079902" cy="64273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4C710E9-3E35-6569-A0F4-F9F6A99535AB}"/>
              </a:ext>
            </a:extLst>
          </p:cNvPr>
          <p:cNvSpPr txBox="1"/>
          <p:nvPr/>
        </p:nvSpPr>
        <p:spPr>
          <a:xfrm>
            <a:off x="867030" y="5033697"/>
            <a:ext cx="22543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ja-JP" dirty="0">
                <a:solidFill>
                  <a:sysClr val="windowText" lastClr="000000"/>
                </a:solidFill>
              </a:rPr>
              <a:t>任意のタイミングで終了し、次の日へ</a:t>
            </a:r>
            <a:endParaRPr kumimoji="1" lang="ja-JP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B89908E-6E6F-7810-D41E-38C410510F96}"/>
              </a:ext>
            </a:extLst>
          </p:cNvPr>
          <p:cNvSpPr/>
          <p:nvPr/>
        </p:nvSpPr>
        <p:spPr>
          <a:xfrm>
            <a:off x="4585451" y="4512124"/>
            <a:ext cx="4076296" cy="12953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38F0728-F2EE-6DC2-CD84-3AE7A935DA43}"/>
              </a:ext>
            </a:extLst>
          </p:cNvPr>
          <p:cNvSpPr txBox="1"/>
          <p:nvPr/>
        </p:nvSpPr>
        <p:spPr>
          <a:xfrm>
            <a:off x="5496410" y="4222208"/>
            <a:ext cx="2254377" cy="40011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ja-JP" altLang="ja-JP" sz="2000" dirty="0"/>
              <a:t>艦内での活動</a:t>
            </a:r>
            <a:endParaRPr kumimoji="1" lang="ja-JP" altLang="en-US" sz="20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FAD693A-CCAD-53E5-9054-C20E155BA587}"/>
              </a:ext>
            </a:extLst>
          </p:cNvPr>
          <p:cNvSpPr txBox="1"/>
          <p:nvPr/>
        </p:nvSpPr>
        <p:spPr>
          <a:xfrm>
            <a:off x="4774030" y="2476987"/>
            <a:ext cx="37631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b="1" dirty="0">
                <a:solidFill>
                  <a:sysClr val="windowText" lastClr="000000"/>
                </a:solidFill>
              </a:rPr>
              <a:t>２</a:t>
            </a:r>
            <a:r>
              <a:rPr lang="en-US" altLang="ja-JP" b="1" dirty="0">
                <a:solidFill>
                  <a:sysClr val="windowText" lastClr="000000"/>
                </a:solidFill>
              </a:rPr>
              <a:t>D</a:t>
            </a:r>
            <a:r>
              <a:rPr lang="ja-JP" altLang="en-US" b="1" dirty="0">
                <a:solidFill>
                  <a:sysClr val="windowText" lastClr="000000"/>
                </a:solidFill>
              </a:rPr>
              <a:t>単純操作モード</a:t>
            </a:r>
            <a:endParaRPr lang="en-US" altLang="ja-JP" dirty="0">
              <a:solidFill>
                <a:sysClr val="windowText" lastClr="000000"/>
              </a:solidFill>
            </a:endParaRPr>
          </a:p>
          <a:p>
            <a:r>
              <a:rPr lang="ja-JP" altLang="en-US" dirty="0">
                <a:solidFill>
                  <a:sysClr val="windowText" lastClr="000000"/>
                </a:solidFill>
              </a:rPr>
              <a:t>・潜水艦の操作</a:t>
            </a:r>
            <a:endParaRPr lang="en-US" altLang="ja-JP" dirty="0">
              <a:solidFill>
                <a:sysClr val="windowText" lastClr="000000"/>
              </a:solidFill>
            </a:endParaRPr>
          </a:p>
          <a:p>
            <a:r>
              <a:rPr lang="ja-JP" altLang="en-US" dirty="0">
                <a:solidFill>
                  <a:sysClr val="windowText" lastClr="000000"/>
                </a:solidFill>
              </a:rPr>
              <a:t>・</a:t>
            </a:r>
            <a:r>
              <a:rPr lang="ja-JP" altLang="ja-JP" dirty="0">
                <a:solidFill>
                  <a:sysClr val="windowText" lastClr="000000"/>
                </a:solidFill>
              </a:rPr>
              <a:t>外部からのアイテム回収・調査</a:t>
            </a:r>
            <a:endParaRPr kumimoji="1" lang="ja-JP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C54091D-2A11-6426-9816-8E1F53ADD59F}"/>
              </a:ext>
            </a:extLst>
          </p:cNvPr>
          <p:cNvSpPr txBox="1"/>
          <p:nvPr/>
        </p:nvSpPr>
        <p:spPr>
          <a:xfrm>
            <a:off x="4913153" y="4615845"/>
            <a:ext cx="38610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b="1" dirty="0">
                <a:solidFill>
                  <a:sysClr val="windowText" lastClr="000000"/>
                </a:solidFill>
              </a:rPr>
              <a:t>３</a:t>
            </a:r>
            <a:r>
              <a:rPr lang="en-US" altLang="ja-JP" b="1" dirty="0">
                <a:solidFill>
                  <a:sysClr val="windowText" lastClr="000000"/>
                </a:solidFill>
              </a:rPr>
              <a:t>D</a:t>
            </a:r>
            <a:r>
              <a:rPr lang="ja-JP" altLang="en-US" b="1" dirty="0">
                <a:solidFill>
                  <a:sysClr val="windowText" lastClr="000000"/>
                </a:solidFill>
              </a:rPr>
              <a:t>一人称モード</a:t>
            </a:r>
            <a:endParaRPr lang="en-US" altLang="ja-JP" b="1" dirty="0">
              <a:solidFill>
                <a:sysClr val="windowText" lastClr="000000"/>
              </a:solidFill>
            </a:endParaRPr>
          </a:p>
          <a:p>
            <a:r>
              <a:rPr lang="ja-JP" altLang="en-US" dirty="0">
                <a:solidFill>
                  <a:sysClr val="windowText" lastClr="000000"/>
                </a:solidFill>
              </a:rPr>
              <a:t>・</a:t>
            </a:r>
            <a:r>
              <a:rPr lang="ja-JP" altLang="ja-JP" dirty="0">
                <a:solidFill>
                  <a:sysClr val="windowText" lastClr="000000"/>
                </a:solidFill>
              </a:rPr>
              <a:t>艦内の探索</a:t>
            </a:r>
            <a:r>
              <a:rPr lang="en-US" altLang="ja-JP" dirty="0">
                <a:solidFill>
                  <a:sysClr val="windowText" lastClr="000000"/>
                </a:solidFill>
              </a:rPr>
              <a:t>/</a:t>
            </a:r>
            <a:r>
              <a:rPr lang="ja-JP" altLang="en-US" dirty="0">
                <a:solidFill>
                  <a:sysClr val="windowText" lastClr="000000"/>
                </a:solidFill>
              </a:rPr>
              <a:t>情報収集</a:t>
            </a:r>
            <a:endParaRPr kumimoji="1" lang="en-US" altLang="ja-JP" dirty="0">
              <a:solidFill>
                <a:sysClr val="windowText" lastClr="000000"/>
              </a:solidFill>
            </a:endParaRPr>
          </a:p>
          <a:p>
            <a:r>
              <a:rPr kumimoji="1" lang="ja-JP" altLang="en-US" dirty="0">
                <a:solidFill>
                  <a:sysClr val="windowText" lastClr="000000"/>
                </a:solidFill>
              </a:rPr>
              <a:t>・仲間とのコミュニケーション</a:t>
            </a:r>
            <a:endParaRPr lang="en-US" altLang="ja-JP" dirty="0">
              <a:solidFill>
                <a:sysClr val="windowText" lastClr="00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3F0176-908C-A6F7-F01B-B76848D24050}"/>
              </a:ext>
            </a:extLst>
          </p:cNvPr>
          <p:cNvSpPr txBox="1"/>
          <p:nvPr/>
        </p:nvSpPr>
        <p:spPr>
          <a:xfrm>
            <a:off x="4839240" y="3736822"/>
            <a:ext cx="3579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自由に行き来可能</a:t>
            </a:r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62F3746A-D256-890E-F20F-2640C26E9ADE}"/>
              </a:ext>
            </a:extLst>
          </p:cNvPr>
          <p:cNvSpPr/>
          <p:nvPr/>
        </p:nvSpPr>
        <p:spPr>
          <a:xfrm>
            <a:off x="4969542" y="3686385"/>
            <a:ext cx="502753" cy="49005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47AAAD2F-751E-A6C5-6118-B7DE12F4B0E4}"/>
              </a:ext>
            </a:extLst>
          </p:cNvPr>
          <p:cNvSpPr/>
          <p:nvPr/>
        </p:nvSpPr>
        <p:spPr>
          <a:xfrm rot="10800000">
            <a:off x="7750787" y="3618263"/>
            <a:ext cx="502753" cy="49005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TextBox 3">
            <a:extLst>
              <a:ext uri="{FF2B5EF4-FFF2-40B4-BE49-F238E27FC236}">
                <a16:creationId xmlns:a16="http://schemas.microsoft.com/office/drawing/2014/main" id="{C45FE5F7-78C4-7851-DE13-D4C179DCC692}"/>
              </a:ext>
            </a:extLst>
          </p:cNvPr>
          <p:cNvSpPr txBox="1"/>
          <p:nvPr/>
        </p:nvSpPr>
        <p:spPr>
          <a:xfrm>
            <a:off x="303276" y="708240"/>
            <a:ext cx="11494008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ja-JP" sz="2000" b="1" dirty="0">
                <a:solidFill>
                  <a:schemeClr val="bg1"/>
                </a:solidFill>
              </a:rPr>
              <a:t>深海に沈む密室（潜水艦）で目を覚ました記憶喪失の10人——</a:t>
            </a:r>
            <a:endParaRPr lang="en-US" altLang="ja-JP" sz="2000" b="1" dirty="0">
              <a:solidFill>
                <a:schemeClr val="bg1"/>
              </a:solidFill>
            </a:endParaRPr>
          </a:p>
          <a:p>
            <a:pPr algn="ctr"/>
            <a:endParaRPr lang="en-US" altLang="ja-JP" sz="1000" b="1" dirty="0">
              <a:solidFill>
                <a:schemeClr val="bg1"/>
              </a:solidFill>
            </a:endParaRPr>
          </a:p>
          <a:p>
            <a:pPr algn="ctr"/>
            <a:r>
              <a:rPr lang="ja-JP" altLang="ja-JP" sz="3200" b="1" dirty="0">
                <a:solidFill>
                  <a:schemeClr val="bg1"/>
                </a:solidFill>
              </a:rPr>
              <a:t>誰が裏切り者か? そして——自分たちは何者か?</a:t>
            </a:r>
            <a:endParaRPr kumimoji="1" lang="ja-JP" altLang="en-US" sz="3600" b="1" dirty="0">
              <a:solidFill>
                <a:schemeClr val="bg1"/>
              </a:solidFill>
            </a:endParaRPr>
          </a:p>
        </p:txBody>
      </p:sp>
      <p:pic>
        <p:nvPicPr>
          <p:cNvPr id="21" name="Content Placeholder 3">
            <a:extLst>
              <a:ext uri="{FF2B5EF4-FFF2-40B4-BE49-F238E27FC236}">
                <a16:creationId xmlns:a16="http://schemas.microsoft.com/office/drawing/2014/main" id="{C34AF63B-F0BC-7E70-D16B-52340A4F9E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840946" y="2012700"/>
            <a:ext cx="3200941" cy="1764914"/>
          </a:xfrm>
          <a:prstGeom prst="rect">
            <a:avLst/>
          </a:prstGeom>
        </p:spPr>
      </p:pic>
      <p:pic>
        <p:nvPicPr>
          <p:cNvPr id="23" name="Picture 8" descr="Where is it?&#10;&#10;AI 生成コンテンツは誤りを含む可能性があります。">
            <a:extLst>
              <a:ext uri="{FF2B5EF4-FFF2-40B4-BE49-F238E27FC236}">
                <a16:creationId xmlns:a16="http://schemas.microsoft.com/office/drawing/2014/main" id="{E3947AA7-240E-AB45-0D22-BEC263A064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2697" y="4248977"/>
            <a:ext cx="3439303" cy="1924748"/>
          </a:xfrm>
          <a:prstGeom prst="rect">
            <a:avLst/>
          </a:prstGeom>
        </p:spPr>
      </p:pic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300CCE72-F5B9-DBE4-66F8-AAAA4388DFD2}"/>
              </a:ext>
            </a:extLst>
          </p:cNvPr>
          <p:cNvSpPr txBox="1"/>
          <p:nvPr/>
        </p:nvSpPr>
        <p:spPr>
          <a:xfrm>
            <a:off x="-384404" y="6302669"/>
            <a:ext cx="1341119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2400" b="1" dirty="0"/>
              <a:t>繰り返される日常、そして突如として起こる事件を君は解決できるか・・・！！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6E0D9BB0-C267-22AD-E40E-4F5FAE6C2CEA}"/>
              </a:ext>
            </a:extLst>
          </p:cNvPr>
          <p:cNvSpPr txBox="1"/>
          <p:nvPr/>
        </p:nvSpPr>
        <p:spPr>
          <a:xfrm>
            <a:off x="777587" y="2598173"/>
            <a:ext cx="6705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2000" dirty="0">
                <a:solidFill>
                  <a:schemeClr val="bg1"/>
                </a:solidFill>
              </a:rPr>
              <a:t>ミッションの選択</a:t>
            </a:r>
          </a:p>
        </p:txBody>
      </p:sp>
    </p:spTree>
    <p:extLst>
      <p:ext uri="{BB962C8B-B14F-4D97-AF65-F5344CB8AC3E}">
        <p14:creationId xmlns:p14="http://schemas.microsoft.com/office/powerpoint/2010/main" val="73951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686B7-D46B-85F9-FA16-8F372CB2B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6718"/>
            <a:ext cx="10515600" cy="790814"/>
          </a:xfrm>
        </p:spPr>
        <p:txBody>
          <a:bodyPr>
            <a:normAutofit/>
          </a:bodyPr>
          <a:lstStyle/>
          <a:p>
            <a:pPr algn="ctr"/>
            <a:r>
              <a:rPr kumimoji="1" lang="ja-JP" altLang="en-US" sz="4000" u="sng" dirty="0">
                <a:latin typeface="游明朝" panose="02020400000000000000" pitchFamily="18" charset="-128"/>
                <a:ea typeface="游明朝" panose="02020400000000000000" pitchFamily="18" charset="-128"/>
              </a:rPr>
              <a:t>見えない恐怖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5A261FE-856D-6746-BC5D-6C94A1E4F6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982" y="1342426"/>
            <a:ext cx="7180104" cy="395891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8EB07BF-4FCF-9EB7-E336-F55636AE3240}"/>
              </a:ext>
            </a:extLst>
          </p:cNvPr>
          <p:cNvSpPr/>
          <p:nvPr/>
        </p:nvSpPr>
        <p:spPr>
          <a:xfrm>
            <a:off x="7500257" y="1342426"/>
            <a:ext cx="4545761" cy="39589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48CB9C4-3BBB-5AC0-85E7-27AF3B5F99C5}"/>
              </a:ext>
            </a:extLst>
          </p:cNvPr>
          <p:cNvSpPr txBox="1"/>
          <p:nvPr/>
        </p:nvSpPr>
        <p:spPr>
          <a:xfrm>
            <a:off x="375313" y="5736774"/>
            <a:ext cx="1161229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b="1" dirty="0"/>
              <a:t>外から聞こえる音から感じる強大な脅威の存在・・・</a:t>
            </a:r>
            <a:endParaRPr kumimoji="1" lang="en-US" altLang="ja-JP" sz="2800" b="1" dirty="0"/>
          </a:p>
          <a:p>
            <a:pPr algn="r"/>
            <a:r>
              <a:rPr kumimoji="1" lang="ja-JP" altLang="en-US" sz="2800" b="1" dirty="0"/>
              <a:t>限られた情報を頼りに、任務遂行できるか━━</a:t>
            </a:r>
            <a:endParaRPr kumimoji="1" lang="en-US" altLang="ja-JP" sz="2800" b="1" dirty="0"/>
          </a:p>
          <a:p>
            <a:pPr algn="ctr"/>
            <a:endParaRPr kumimoji="1" lang="en-US" altLang="ja-JP" sz="2800" b="1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2B7043D-B9EA-99AD-E94F-6CA24C18291F}"/>
              </a:ext>
            </a:extLst>
          </p:cNvPr>
          <p:cNvSpPr txBox="1"/>
          <p:nvPr/>
        </p:nvSpPr>
        <p:spPr>
          <a:xfrm>
            <a:off x="7500257" y="1621675"/>
            <a:ext cx="4604657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ja-JP" sz="2800" b="1" dirty="0"/>
              <a:t>操作前に、知っておくこと</a:t>
            </a:r>
            <a:endParaRPr lang="en-US" altLang="ja-JP" sz="2800" b="1" dirty="0"/>
          </a:p>
          <a:p>
            <a:endParaRPr lang="en-US" altLang="ja-JP" b="1" dirty="0"/>
          </a:p>
          <a:p>
            <a:r>
              <a:rPr lang="ja-JP" altLang="ja-JP" b="1" dirty="0"/>
              <a:t>「窓はない」</a:t>
            </a:r>
            <a:r>
              <a:rPr lang="ja-JP" altLang="ja-JP" dirty="0"/>
              <a:t> </a:t>
            </a:r>
            <a:endParaRPr lang="en-US" altLang="ja-JP" dirty="0"/>
          </a:p>
          <a:p>
            <a:r>
              <a:rPr lang="ja-JP" altLang="ja-JP" dirty="0"/>
              <a:t>― 隔壁に覆われ、外の景色は一切見えない</a:t>
            </a:r>
            <a:endParaRPr lang="en-US" altLang="ja-JP" dirty="0"/>
          </a:p>
          <a:p>
            <a:endParaRPr kumimoji="1" lang="en-US" altLang="ja-JP" dirty="0"/>
          </a:p>
          <a:p>
            <a:r>
              <a:rPr lang="ja-JP" altLang="ja-JP" b="1" dirty="0"/>
              <a:t>「ソナーは一瞬だけ」</a:t>
            </a:r>
            <a:r>
              <a:rPr lang="ja-JP" altLang="ja-JP" dirty="0"/>
              <a:t> </a:t>
            </a:r>
            <a:endParaRPr lang="en-US" altLang="ja-JP" dirty="0"/>
          </a:p>
          <a:p>
            <a:r>
              <a:rPr lang="ja-JP" altLang="ja-JP" dirty="0"/>
              <a:t>― 反射が消えれば、</a:t>
            </a:r>
            <a:r>
              <a:rPr lang="ja-JP" altLang="en-US" dirty="0"/>
              <a:t>居場所は</a:t>
            </a:r>
            <a:r>
              <a:rPr lang="ja-JP" altLang="ja-JP" dirty="0"/>
              <a:t>分からない</a:t>
            </a:r>
            <a:endParaRPr lang="en-US" altLang="ja-JP" dirty="0"/>
          </a:p>
          <a:p>
            <a:endParaRPr kumimoji="1" lang="en-US" altLang="ja-JP" dirty="0"/>
          </a:p>
          <a:p>
            <a:r>
              <a:rPr lang="ja-JP" altLang="ja-JP" b="1" dirty="0"/>
              <a:t>「音だけが伝えてくる」</a:t>
            </a:r>
            <a:r>
              <a:rPr lang="ja-JP" altLang="ja-JP" dirty="0"/>
              <a:t> </a:t>
            </a:r>
            <a:endParaRPr lang="en-US" altLang="ja-JP" dirty="0"/>
          </a:p>
          <a:p>
            <a:r>
              <a:rPr lang="ja-JP" altLang="ja-JP" dirty="0"/>
              <a:t>― 船体を叩く音、軋み、遠くの鳴き声。</a:t>
            </a:r>
            <a:endParaRPr lang="en-US" altLang="ja-JP" dirty="0"/>
          </a:p>
          <a:p>
            <a:r>
              <a:rPr lang="ja-JP" altLang="en-US" dirty="0"/>
              <a:t>　</a:t>
            </a:r>
            <a:r>
              <a:rPr lang="ja-JP" altLang="ja-JP" dirty="0"/>
              <a:t>姿は最後まで見えない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1712778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59655-14C7-9E17-E89B-890C37070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00255-4D5B-FABD-7604-C3B6206B4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6718"/>
            <a:ext cx="10515600" cy="790814"/>
          </a:xfrm>
        </p:spPr>
        <p:txBody>
          <a:bodyPr>
            <a:normAutofit/>
          </a:bodyPr>
          <a:lstStyle/>
          <a:p>
            <a:pPr algn="ctr"/>
            <a:r>
              <a:rPr kumimoji="1" lang="ja-JP" altLang="en-US" sz="4000" u="sng" dirty="0">
                <a:latin typeface="游明朝" panose="02020400000000000000" pitchFamily="18" charset="-128"/>
                <a:ea typeface="游明朝" panose="02020400000000000000" pitchFamily="18" charset="-128"/>
              </a:rPr>
              <a:t>誰を信じるか？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96B8F3-F0B0-9C3E-2EA5-3A5F6DCCECDD}"/>
              </a:ext>
            </a:extLst>
          </p:cNvPr>
          <p:cNvSpPr/>
          <p:nvPr/>
        </p:nvSpPr>
        <p:spPr>
          <a:xfrm>
            <a:off x="7116803" y="1161537"/>
            <a:ext cx="4738695" cy="23664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8F4E884-06C3-C3D2-07DC-64B9CF87F3BA}"/>
              </a:ext>
            </a:extLst>
          </p:cNvPr>
          <p:cNvSpPr txBox="1"/>
          <p:nvPr/>
        </p:nvSpPr>
        <p:spPr>
          <a:xfrm>
            <a:off x="7231773" y="1073372"/>
            <a:ext cx="2254377" cy="33855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600" dirty="0"/>
              <a:t>心電図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02A80D9-A86E-6672-CED5-6BEBB9C72CF9}"/>
              </a:ext>
            </a:extLst>
          </p:cNvPr>
          <p:cNvSpPr txBox="1"/>
          <p:nvPr/>
        </p:nvSpPr>
        <p:spPr>
          <a:xfrm>
            <a:off x="7116802" y="1478560"/>
            <a:ext cx="473869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b="1" dirty="0">
                <a:solidFill>
                  <a:srgbClr val="002060"/>
                </a:solidFill>
              </a:rPr>
              <a:t>なぜか</a:t>
            </a:r>
            <a:r>
              <a:rPr kumimoji="1" lang="ja-JP" altLang="en-US" sz="1600" b="1" dirty="0"/>
              <a:t>仲間と共鳴し、心拍を感じることができる</a:t>
            </a:r>
            <a:endParaRPr kumimoji="1" lang="en-US" altLang="ja-JP" sz="1600" b="1" dirty="0"/>
          </a:p>
          <a:p>
            <a:endParaRPr kumimoji="1" lang="en-US" altLang="ja-JP" sz="1600" b="1" dirty="0"/>
          </a:p>
          <a:p>
            <a:r>
              <a:rPr kumimoji="1" lang="ja-JP" altLang="en-US" sz="1600" b="1" dirty="0"/>
              <a:t>心拍数が高い</a:t>
            </a:r>
            <a:endParaRPr kumimoji="1" lang="en-US" altLang="ja-JP" sz="1600" b="1" dirty="0"/>
          </a:p>
          <a:p>
            <a:r>
              <a:rPr kumimoji="1" lang="ja-JP" altLang="en-US" sz="1600" dirty="0"/>
              <a:t>・嘘をついている　・激しい動きをしていた</a:t>
            </a:r>
            <a:endParaRPr kumimoji="1" lang="en-US" altLang="ja-JP" sz="1600" dirty="0"/>
          </a:p>
          <a:p>
            <a:endParaRPr kumimoji="1" lang="en-US" altLang="ja-JP" sz="1600" dirty="0"/>
          </a:p>
          <a:p>
            <a:r>
              <a:rPr kumimoji="1" lang="ja-JP" altLang="en-US" sz="1600" b="1" dirty="0"/>
              <a:t>心拍数が低い</a:t>
            </a:r>
            <a:endParaRPr kumimoji="1" lang="en-US" altLang="ja-JP" sz="1600" b="1" dirty="0"/>
          </a:p>
          <a:p>
            <a:r>
              <a:rPr kumimoji="1" lang="ja-JP" altLang="en-US" sz="1600" dirty="0"/>
              <a:t>・落ち着いている　・自分の犯行に自信がある</a:t>
            </a:r>
            <a:endParaRPr kumimoji="1" lang="en-US" altLang="ja-JP" sz="1600" dirty="0"/>
          </a:p>
          <a:p>
            <a:r>
              <a:rPr kumimoji="1" lang="ja-JP" altLang="en-US" sz="1600" dirty="0"/>
              <a:t>・そもそも感情の起伏が乏しいキャラクター</a:t>
            </a:r>
            <a:endParaRPr kumimoji="1" lang="en-US" altLang="ja-JP" sz="1600" dirty="0"/>
          </a:p>
          <a:p>
            <a:endParaRPr kumimoji="1" lang="en-US" altLang="ja-JP" sz="1600" dirty="0"/>
          </a:p>
        </p:txBody>
      </p: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7766E823-46A8-AF65-1661-8AECDBDECF73}"/>
              </a:ext>
            </a:extLst>
          </p:cNvPr>
          <p:cNvGrpSpPr/>
          <p:nvPr/>
        </p:nvGrpSpPr>
        <p:grpSpPr>
          <a:xfrm>
            <a:off x="110766" y="1491956"/>
            <a:ext cx="6922550" cy="3874088"/>
            <a:chOff x="3644079" y="1110565"/>
            <a:chExt cx="4818191" cy="2696419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66F56A0-6FF5-2A01-D5FB-6FFC8A1018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44079" y="1110565"/>
              <a:ext cx="4818191" cy="2696419"/>
            </a:xfrm>
            <a:prstGeom prst="rect">
              <a:avLst/>
            </a:prstGeom>
          </p:spPr>
        </p:pic>
        <p:pic>
          <p:nvPicPr>
            <p:cNvPr id="11" name="Picture 10" descr="心電図のイラスト">
              <a:extLst>
                <a:ext uri="{FF2B5EF4-FFF2-40B4-BE49-F238E27FC236}">
                  <a16:creationId xmlns:a16="http://schemas.microsoft.com/office/drawing/2014/main" id="{F24E1268-B22D-96BB-DAF3-FDCC5BC131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88877" y="1821249"/>
              <a:ext cx="968076" cy="958395"/>
            </a:xfrm>
            <a:prstGeom prst="rect">
              <a:avLst/>
            </a:prstGeom>
          </p:spPr>
        </p:pic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2B390254-C203-2989-D1EB-589D09E0353B}"/>
                </a:ext>
              </a:extLst>
            </p:cNvPr>
            <p:cNvSpPr/>
            <p:nvPr/>
          </p:nvSpPr>
          <p:spPr>
            <a:xfrm>
              <a:off x="6633713" y="1788129"/>
              <a:ext cx="1207698" cy="109682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A11BD2FB-C163-FA9E-9F3A-EE3B394AB8CD}"/>
                </a:ext>
              </a:extLst>
            </p:cNvPr>
            <p:cNvSpPr/>
            <p:nvPr/>
          </p:nvSpPr>
          <p:spPr>
            <a:xfrm>
              <a:off x="6631200" y="1781077"/>
              <a:ext cx="968076" cy="116734"/>
            </a:xfrm>
            <a:prstGeom prst="rect">
              <a:avLst/>
            </a:prstGeom>
            <a:solidFill>
              <a:schemeClr val="bg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46" name="Rectangle 45">
            <a:extLst>
              <a:ext uri="{FF2B5EF4-FFF2-40B4-BE49-F238E27FC236}">
                <a16:creationId xmlns:a16="http://schemas.microsoft.com/office/drawing/2014/main" id="{89412353-5DF4-5403-7958-A9333D312319}"/>
              </a:ext>
            </a:extLst>
          </p:cNvPr>
          <p:cNvSpPr/>
          <p:nvPr/>
        </p:nvSpPr>
        <p:spPr>
          <a:xfrm>
            <a:off x="7108642" y="3871926"/>
            <a:ext cx="4822181" cy="17031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2047337-1BCF-3976-C3EB-EF21243EE2E1}"/>
              </a:ext>
            </a:extLst>
          </p:cNvPr>
          <p:cNvSpPr txBox="1"/>
          <p:nvPr/>
        </p:nvSpPr>
        <p:spPr>
          <a:xfrm>
            <a:off x="7231773" y="3710421"/>
            <a:ext cx="3214711" cy="33855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ja-JP" altLang="en-US" sz="1600" dirty="0"/>
              <a:t>プレイヤーだけが抱ける違和感</a:t>
            </a:r>
            <a:endParaRPr kumimoji="1" lang="ja-JP" altLang="en-US" sz="16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26598E4-0F27-6182-AB2A-157BAA855CDB}"/>
              </a:ext>
            </a:extLst>
          </p:cNvPr>
          <p:cNvSpPr txBox="1"/>
          <p:nvPr/>
        </p:nvSpPr>
        <p:spPr>
          <a:xfrm>
            <a:off x="7116802" y="4130863"/>
            <a:ext cx="473869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ja-JP" sz="1600" dirty="0"/>
              <a:t>ゲーム内のキャラクター(主人公含む)は全く疑問に思わない。</a:t>
            </a:r>
            <a:endParaRPr lang="en-US" altLang="ja-JP" sz="1600" dirty="0"/>
          </a:p>
          <a:p>
            <a:endParaRPr lang="en-US" altLang="ja-JP" sz="1600" dirty="0"/>
          </a:p>
          <a:p>
            <a:r>
              <a:rPr lang="ja-JP" altLang="ja-JP" sz="1600" dirty="0"/>
              <a:t>しかしプレイヤーだけが、画面越しに「何かがおかしい」と気づける違和感が仕込まれている。</a:t>
            </a:r>
            <a:endParaRPr kumimoji="1" lang="en-US" altLang="ja-JP" sz="16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5395486-4B1F-DD58-09F4-B196F0C7C62D}"/>
              </a:ext>
            </a:extLst>
          </p:cNvPr>
          <p:cNvSpPr txBox="1"/>
          <p:nvPr/>
        </p:nvSpPr>
        <p:spPr>
          <a:xfrm>
            <a:off x="606156" y="5700523"/>
            <a:ext cx="111036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b="1" dirty="0"/>
              <a:t>様々な思惑が交差する深海の密室━</a:t>
            </a:r>
            <a:endParaRPr kumimoji="1" lang="en-US" altLang="ja-JP" sz="2800" b="1" dirty="0"/>
          </a:p>
          <a:p>
            <a:pPr algn="r"/>
            <a:r>
              <a:rPr lang="ja-JP" altLang="ja-JP" sz="2800" b="1" dirty="0"/>
              <a:t>その違和感の正体に、君は気づけるか。</a:t>
            </a:r>
            <a:endParaRPr kumimoji="1" lang="ja-JP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4300887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49AC7CF-DACB-6342-CAFE-1CC5541FF1CD}"/>
              </a:ext>
            </a:extLst>
          </p:cNvPr>
          <p:cNvSpPr/>
          <p:nvPr/>
        </p:nvSpPr>
        <p:spPr>
          <a:xfrm>
            <a:off x="293298" y="175345"/>
            <a:ext cx="11602528" cy="675166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DE9F30-FBE2-C9AA-2246-864C10EDA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5345"/>
            <a:ext cx="10515600" cy="825320"/>
          </a:xfrm>
        </p:spPr>
        <p:txBody>
          <a:bodyPr>
            <a:normAutofit/>
          </a:bodyPr>
          <a:lstStyle/>
          <a:p>
            <a:pPr algn="ctr"/>
            <a:r>
              <a:rPr lang="ja-JP" altLang="ja-JP" sz="4400" u="sng" dirty="0">
                <a:solidFill>
                  <a:schemeClr val="bg1"/>
                </a:solidFill>
                <a:latin typeface="游明朝" panose="02020400000000000000" pitchFamily="18" charset="-128"/>
                <a:ea typeface="游明朝" panose="02020400000000000000" pitchFamily="18" charset="-128"/>
              </a:rPr>
              <a:t>クレイドル・プロトコル</a:t>
            </a:r>
            <a:r>
              <a:rPr lang="ja-JP" altLang="en-US" sz="4400" u="sng" dirty="0">
                <a:solidFill>
                  <a:schemeClr val="bg1"/>
                </a:solidFill>
                <a:latin typeface="游明朝" panose="02020400000000000000" pitchFamily="18" charset="-128"/>
                <a:ea typeface="游明朝" panose="02020400000000000000" pitchFamily="18" charset="-128"/>
              </a:rPr>
              <a:t>：参加者リスト</a:t>
            </a:r>
            <a:endParaRPr kumimoji="1" lang="ja-JP" altLang="en-US" sz="4400" u="sng" dirty="0">
              <a:solidFill>
                <a:schemeClr val="bg1"/>
              </a:solidFill>
              <a:latin typeface="游明朝" panose="02020400000000000000" pitchFamily="18" charset="-128"/>
              <a:ea typeface="游明朝" panose="02020400000000000000" pitchFamily="18" charset="-128"/>
            </a:endParaRPr>
          </a:p>
        </p:txBody>
      </p:sp>
      <p:pic>
        <p:nvPicPr>
          <p:cNvPr id="6" name="Picture 5" descr="資料・書類の入った封筒のイラスト">
            <a:extLst>
              <a:ext uri="{FF2B5EF4-FFF2-40B4-BE49-F238E27FC236}">
                <a16:creationId xmlns:a16="http://schemas.microsoft.com/office/drawing/2014/main" id="{6C86EDB8-5607-F5E9-5E1E-804B2F3BFB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7463" y="3684724"/>
            <a:ext cx="3524250" cy="3810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7B977A7-450E-1095-03FA-86F32CEF6C1A}"/>
              </a:ext>
            </a:extLst>
          </p:cNvPr>
          <p:cNvSpPr txBox="1"/>
          <p:nvPr/>
        </p:nvSpPr>
        <p:spPr>
          <a:xfrm>
            <a:off x="471129" y="3039042"/>
            <a:ext cx="1013936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ja-JP" b="1" dirty="0">
                <a:solidFill>
                  <a:schemeClr val="bg1"/>
                </a:solidFill>
              </a:rPr>
              <a:t>検体番号01：東雲 柚葉（しののめ ゆずは） </a:t>
            </a:r>
            <a:endParaRPr lang="en-US" altLang="ja-JP" b="1" dirty="0">
              <a:solidFill>
                <a:schemeClr val="bg1"/>
              </a:solidFill>
            </a:endParaRPr>
          </a:p>
          <a:p>
            <a:r>
              <a:rPr lang="ja-JP" altLang="ja-JP" b="1" dirty="0">
                <a:solidFill>
                  <a:schemeClr val="bg1"/>
                </a:solidFill>
              </a:rPr>
              <a:t>【開示記録】自認：17歳 / 高校生</a:t>
            </a:r>
            <a:r>
              <a:rPr lang="ja-JP" altLang="ja-JP" dirty="0">
                <a:solidFill>
                  <a:schemeClr val="bg1"/>
                </a:solidFill>
              </a:rPr>
              <a:t> </a:t>
            </a:r>
            <a:endParaRPr lang="en-US" altLang="ja-JP" dirty="0">
              <a:solidFill>
                <a:schemeClr val="bg1"/>
              </a:solidFill>
            </a:endParaRPr>
          </a:p>
          <a:p>
            <a:r>
              <a:rPr lang="ja-JP" altLang="ja-JP" dirty="0">
                <a:solidFill>
                  <a:schemeClr val="bg1"/>
                </a:solidFill>
              </a:rPr>
              <a:t>夢も気力もない陰キャ帰宅部。なぜか自身の推理に根拠のない自信を持つ。</a:t>
            </a:r>
          </a:p>
          <a:p>
            <a:r>
              <a:rPr lang="ja-JP" altLang="ja-JP" b="1" dirty="0">
                <a:solidFill>
                  <a:srgbClr val="C00000"/>
                </a:solidFill>
              </a:rPr>
              <a:t>【秘匿真実】実年齢：32歳 / 開発主任</a:t>
            </a:r>
            <a:endParaRPr lang="en-US" altLang="ja-JP" b="1" dirty="0">
              <a:solidFill>
                <a:srgbClr val="C00000"/>
              </a:solidFill>
            </a:endParaRPr>
          </a:p>
          <a:p>
            <a:endParaRPr lang="en-US" altLang="ja-JP" dirty="0">
              <a:solidFill>
                <a:schemeClr val="bg1"/>
              </a:solidFill>
            </a:endParaRPr>
          </a:p>
          <a:p>
            <a:r>
              <a:rPr lang="ja-JP" altLang="ja-JP" b="1" dirty="0">
                <a:solidFill>
                  <a:schemeClr val="bg1"/>
                </a:solidFill>
              </a:rPr>
              <a:t>検体番号03：東堂 響（とうどう ひびき）</a:t>
            </a:r>
            <a:endParaRPr lang="ja-JP" altLang="ja-JP" dirty="0">
              <a:solidFill>
                <a:schemeClr val="bg1"/>
              </a:solidFill>
            </a:endParaRPr>
          </a:p>
          <a:p>
            <a:r>
              <a:rPr lang="ja-JP" altLang="ja-JP" b="1" dirty="0">
                <a:solidFill>
                  <a:schemeClr val="bg1"/>
                </a:solidFill>
              </a:rPr>
              <a:t>【開示記録】自認：20歳 / 防衛大生</a:t>
            </a:r>
            <a:r>
              <a:rPr lang="ja-JP" altLang="ja-JP" dirty="0">
                <a:solidFill>
                  <a:schemeClr val="bg1"/>
                </a:solidFill>
              </a:rPr>
              <a:t> 成績優秀だが頭でっかち。無意識に周囲を見下す未熟な若者。</a:t>
            </a:r>
          </a:p>
          <a:p>
            <a:r>
              <a:rPr lang="ja-JP" altLang="ja-JP" b="1" dirty="0">
                <a:solidFill>
                  <a:srgbClr val="C00000"/>
                </a:solidFill>
              </a:rPr>
              <a:t>【秘匿真実】実年齢：51歳 / 潜水艦艦長</a:t>
            </a:r>
            <a:endParaRPr lang="en-US" altLang="ja-JP" b="1" dirty="0">
              <a:solidFill>
                <a:srgbClr val="C00000"/>
              </a:solidFill>
            </a:endParaRPr>
          </a:p>
          <a:p>
            <a:endParaRPr lang="en-US" altLang="ja-JP" dirty="0">
              <a:solidFill>
                <a:schemeClr val="bg1"/>
              </a:solidFill>
            </a:endParaRPr>
          </a:p>
          <a:p>
            <a:r>
              <a:rPr lang="ja-JP" altLang="ja-JP" b="1" dirty="0">
                <a:solidFill>
                  <a:schemeClr val="bg1"/>
                </a:solidFill>
              </a:rPr>
              <a:t>検体番号0</a:t>
            </a:r>
            <a:r>
              <a:rPr lang="en-US" altLang="ja-JP" b="1" dirty="0">
                <a:solidFill>
                  <a:schemeClr val="bg1"/>
                </a:solidFill>
              </a:rPr>
              <a:t>7</a:t>
            </a:r>
            <a:r>
              <a:rPr lang="ja-JP" altLang="ja-JP" b="1" dirty="0">
                <a:solidFill>
                  <a:schemeClr val="bg1"/>
                </a:solidFill>
              </a:rPr>
              <a:t>：</a:t>
            </a:r>
            <a:r>
              <a:rPr lang="ja-JP" altLang="en-US" b="1" dirty="0">
                <a:solidFill>
                  <a:schemeClr val="bg1"/>
                </a:solidFill>
              </a:rPr>
              <a:t>霧島薊</a:t>
            </a:r>
            <a:r>
              <a:rPr lang="ja-JP" altLang="ja-JP" b="1" dirty="0">
                <a:solidFill>
                  <a:schemeClr val="bg1"/>
                </a:solidFill>
              </a:rPr>
              <a:t>（</a:t>
            </a:r>
            <a:r>
              <a:rPr lang="ja-JP" altLang="en-US" b="1" dirty="0">
                <a:solidFill>
                  <a:schemeClr val="bg1"/>
                </a:solidFill>
              </a:rPr>
              <a:t>きりしまあざみ</a:t>
            </a:r>
            <a:r>
              <a:rPr lang="ja-JP" altLang="ja-JP" b="1" dirty="0">
                <a:solidFill>
                  <a:schemeClr val="bg1"/>
                </a:solidFill>
              </a:rPr>
              <a:t>）</a:t>
            </a:r>
            <a:endParaRPr lang="ja-JP" altLang="ja-JP" dirty="0">
              <a:solidFill>
                <a:schemeClr val="bg1"/>
              </a:solidFill>
            </a:endParaRPr>
          </a:p>
          <a:p>
            <a:r>
              <a:rPr lang="ja-JP" altLang="ja-JP" b="1" dirty="0">
                <a:solidFill>
                  <a:schemeClr val="bg1"/>
                </a:solidFill>
              </a:rPr>
              <a:t>【開示記録】自認：</a:t>
            </a:r>
            <a:r>
              <a:rPr lang="ja-JP" altLang="en-US" b="1" dirty="0">
                <a:solidFill>
                  <a:schemeClr val="bg1"/>
                </a:solidFill>
              </a:rPr>
              <a:t> </a:t>
            </a:r>
            <a:r>
              <a:rPr lang="en-US" altLang="ja-JP" b="1" dirty="0">
                <a:solidFill>
                  <a:schemeClr val="bg1"/>
                </a:solidFill>
              </a:rPr>
              <a:t>28</a:t>
            </a:r>
            <a:r>
              <a:rPr lang="ja-JP" altLang="ja-JP" b="1" dirty="0">
                <a:solidFill>
                  <a:schemeClr val="bg1"/>
                </a:solidFill>
              </a:rPr>
              <a:t>歳 / </a:t>
            </a:r>
            <a:r>
              <a:rPr lang="ja-JP" altLang="en-US" b="1" dirty="0">
                <a:solidFill>
                  <a:schemeClr val="bg1"/>
                </a:solidFill>
              </a:rPr>
              <a:t>犯罪者</a:t>
            </a:r>
            <a:r>
              <a:rPr lang="en-US" altLang="ja-JP" b="1" dirty="0">
                <a:solidFill>
                  <a:schemeClr val="bg1"/>
                </a:solidFill>
              </a:rPr>
              <a:t> </a:t>
            </a:r>
            <a:r>
              <a:rPr lang="ja-JP" altLang="en-US" dirty="0">
                <a:solidFill>
                  <a:schemeClr val="bg1"/>
                </a:solidFill>
              </a:rPr>
              <a:t>見た目はおっとりしている女性だが、善悪を理解できない。 </a:t>
            </a:r>
            <a:r>
              <a:rPr lang="ja-JP" altLang="ja-JP" b="1" dirty="0">
                <a:solidFill>
                  <a:srgbClr val="C00000"/>
                </a:solidFill>
              </a:rPr>
              <a:t>【秘匿真実】実年齢：</a:t>
            </a:r>
            <a:r>
              <a:rPr lang="ja-JP" altLang="en-US" b="1" dirty="0">
                <a:solidFill>
                  <a:srgbClr val="C00000"/>
                </a:solidFill>
              </a:rPr>
              <a:t> </a:t>
            </a:r>
            <a:r>
              <a:rPr lang="en-US" altLang="ja-JP" b="1" dirty="0">
                <a:solidFill>
                  <a:srgbClr val="C00000"/>
                </a:solidFill>
              </a:rPr>
              <a:t>31</a:t>
            </a:r>
            <a:r>
              <a:rPr lang="ja-JP" altLang="ja-JP" b="1" dirty="0">
                <a:solidFill>
                  <a:srgbClr val="C00000"/>
                </a:solidFill>
              </a:rPr>
              <a:t>歳 /</a:t>
            </a:r>
            <a:r>
              <a:rPr lang="ja-JP" altLang="en-US" b="1" dirty="0">
                <a:solidFill>
                  <a:srgbClr val="C00000"/>
                </a:solidFill>
              </a:rPr>
              <a:t>被検体要員</a:t>
            </a:r>
            <a:endParaRPr lang="ja-JP" altLang="ja-JP" dirty="0">
              <a:solidFill>
                <a:schemeClr val="bg1"/>
              </a:solidFill>
            </a:endParaRPr>
          </a:p>
          <a:p>
            <a:endParaRPr lang="ja-JP" altLang="ja-JP" dirty="0">
              <a:solidFill>
                <a:schemeClr val="bg1"/>
              </a:solidFill>
            </a:endParaRPr>
          </a:p>
          <a:p>
            <a:endParaRPr kumimoji="1" lang="ja-JP" altLang="en-US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DCE392-3183-6A33-AACB-ABA43C04702C}"/>
              </a:ext>
            </a:extLst>
          </p:cNvPr>
          <p:cNvSpPr txBox="1"/>
          <p:nvPr/>
        </p:nvSpPr>
        <p:spPr>
          <a:xfrm>
            <a:off x="471129" y="987414"/>
            <a:ext cx="1119178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600" b="1" dirty="0">
                <a:solidFill>
                  <a:schemeClr val="bg1"/>
                </a:solidFill>
              </a:rPr>
              <a:t>１．</a:t>
            </a:r>
            <a:r>
              <a:rPr lang="ja-JP" altLang="ja-JP" sz="1600" b="1" dirty="0">
                <a:solidFill>
                  <a:schemeClr val="bg1"/>
                </a:solidFill>
              </a:rPr>
              <a:t>「彼ら」は人間ではない</a:t>
            </a:r>
            <a:r>
              <a:rPr lang="ja-JP" altLang="ja-JP" sz="1600" dirty="0">
                <a:solidFill>
                  <a:schemeClr val="bg1"/>
                </a:solidFill>
              </a:rPr>
              <a:t> </a:t>
            </a:r>
            <a:r>
              <a:rPr lang="ja-JP" altLang="en-US" sz="1600" dirty="0">
                <a:solidFill>
                  <a:schemeClr val="bg1"/>
                </a:solidFill>
              </a:rPr>
              <a:t>・・・</a:t>
            </a:r>
            <a:endParaRPr lang="en-US" altLang="ja-JP" sz="1600" dirty="0">
              <a:solidFill>
                <a:schemeClr val="bg1"/>
              </a:solidFill>
            </a:endParaRPr>
          </a:p>
          <a:p>
            <a:endParaRPr lang="en-US" altLang="ja-JP" sz="1600" b="1" dirty="0">
              <a:solidFill>
                <a:schemeClr val="bg1"/>
              </a:solidFill>
            </a:endParaRPr>
          </a:p>
          <a:p>
            <a:r>
              <a:rPr lang="ja-JP" altLang="en-US" sz="1600" b="1" dirty="0">
                <a:solidFill>
                  <a:schemeClr val="bg1"/>
                </a:solidFill>
              </a:rPr>
              <a:t>２．</a:t>
            </a:r>
            <a:r>
              <a:rPr lang="ja-JP" altLang="ja-JP" sz="1600" b="1" dirty="0">
                <a:solidFill>
                  <a:schemeClr val="bg1"/>
                </a:solidFill>
              </a:rPr>
              <a:t>不完全な記憶の複製</a:t>
            </a:r>
            <a:r>
              <a:rPr lang="ja-JP" altLang="en-US" sz="1600" b="1" dirty="0">
                <a:solidFill>
                  <a:schemeClr val="bg1"/>
                </a:solidFill>
              </a:rPr>
              <a:t>・・・</a:t>
            </a:r>
            <a:endParaRPr lang="en-US" altLang="ja-JP" sz="1600" dirty="0">
              <a:solidFill>
                <a:schemeClr val="bg1"/>
              </a:solidFill>
            </a:endParaRPr>
          </a:p>
          <a:p>
            <a:endParaRPr lang="en-US" altLang="ja-JP" sz="1600" b="1" dirty="0">
              <a:solidFill>
                <a:schemeClr val="bg1"/>
              </a:solidFill>
            </a:endParaRPr>
          </a:p>
          <a:p>
            <a:r>
              <a:rPr lang="ja-JP" altLang="en-US" sz="1600" b="1" dirty="0">
                <a:solidFill>
                  <a:schemeClr val="bg1"/>
                </a:solidFill>
              </a:rPr>
              <a:t>最終目標</a:t>
            </a:r>
            <a:endParaRPr lang="en-US" altLang="ja-JP" sz="1600" b="1" dirty="0">
              <a:solidFill>
                <a:schemeClr val="bg1"/>
              </a:solidFill>
            </a:endParaRPr>
          </a:p>
          <a:p>
            <a:r>
              <a:rPr lang="ja-JP" altLang="en-US" sz="1600" dirty="0">
                <a:solidFill>
                  <a:schemeClr val="bg1"/>
                </a:solidFill>
              </a:rPr>
              <a:t>潜水艦という名の揺り籠（</a:t>
            </a:r>
            <a:r>
              <a:rPr lang="ja-JP" altLang="ja-JP" sz="1600" dirty="0">
                <a:solidFill>
                  <a:schemeClr val="bg1"/>
                </a:solidFill>
              </a:rPr>
              <a:t>クレイドル</a:t>
            </a:r>
            <a:r>
              <a:rPr lang="ja-JP" altLang="en-US" sz="1600" dirty="0">
                <a:solidFill>
                  <a:schemeClr val="bg1"/>
                </a:solidFill>
              </a:rPr>
              <a:t>）で生態兵器の実用化を目指す。・・・</a:t>
            </a:r>
            <a:endParaRPr lang="en-US" altLang="ja-JP" sz="160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E5C3F0-45F3-CD97-5BC2-E79564948C93}"/>
              </a:ext>
            </a:extLst>
          </p:cNvPr>
          <p:cNvSpPr/>
          <p:nvPr/>
        </p:nvSpPr>
        <p:spPr>
          <a:xfrm>
            <a:off x="405442" y="3039043"/>
            <a:ext cx="65687" cy="109201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AF7A942-8FA5-7501-7A93-2D3E48FFBAAA}"/>
              </a:ext>
            </a:extLst>
          </p:cNvPr>
          <p:cNvSpPr txBox="1"/>
          <p:nvPr/>
        </p:nvSpPr>
        <p:spPr>
          <a:xfrm rot="1270976">
            <a:off x="9762020" y="856927"/>
            <a:ext cx="2294626" cy="52322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2800" dirty="0">
                <a:solidFill>
                  <a:srgbClr val="C00000"/>
                </a:solidFill>
              </a:rPr>
              <a:t>TOP SECRET</a:t>
            </a:r>
            <a:endParaRPr kumimoji="1" lang="ja-JP" altLang="en-US" sz="2800" dirty="0">
              <a:solidFill>
                <a:srgbClr val="C00000"/>
              </a:solidFill>
            </a:endParaRP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0C21B4CB-5AD4-A28D-335E-93D883F6A40D}"/>
              </a:ext>
            </a:extLst>
          </p:cNvPr>
          <p:cNvSpPr/>
          <p:nvPr/>
        </p:nvSpPr>
        <p:spPr>
          <a:xfrm>
            <a:off x="405441" y="4310891"/>
            <a:ext cx="65687" cy="109201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2B233639-3ABA-D3A2-AD26-82F1CFDE0454}"/>
              </a:ext>
            </a:extLst>
          </p:cNvPr>
          <p:cNvSpPr/>
          <p:nvPr/>
        </p:nvSpPr>
        <p:spPr>
          <a:xfrm>
            <a:off x="405441" y="5572844"/>
            <a:ext cx="65687" cy="109201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04416730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TM04033923[[fn=Depth]]</Template>
  <TotalTime>1438</TotalTime>
  <Words>584</Words>
  <Application>Microsoft Office PowerPoint</Application>
  <PresentationFormat>ワイド画面</PresentationFormat>
  <Paragraphs>76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0" baseType="lpstr">
      <vt:lpstr>游ゴシック</vt:lpstr>
      <vt:lpstr>游明朝</vt:lpstr>
      <vt:lpstr>Arial</vt:lpstr>
      <vt:lpstr>Corbel</vt:lpstr>
      <vt:lpstr>Depth</vt:lpstr>
      <vt:lpstr>CRADLE PROTOCOL</vt:lpstr>
      <vt:lpstr>コンセプト＆ゲームフロー</vt:lpstr>
      <vt:lpstr>見えない恐怖</vt:lpstr>
      <vt:lpstr>誰を信じるか？</vt:lpstr>
      <vt:lpstr>クレイドル・プロトコル：参加者リスト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KOUKI MASAKI</dc:creator>
  <cp:lastModifiedBy>KOUKI MASAKI</cp:lastModifiedBy>
  <cp:revision>35</cp:revision>
  <cp:lastPrinted>2026-06-19T12:23:20Z</cp:lastPrinted>
  <dcterms:created xsi:type="dcterms:W3CDTF">2026-06-14T04:57:15Z</dcterms:created>
  <dcterms:modified xsi:type="dcterms:W3CDTF">2026-08-19T01:30:25Z</dcterms:modified>
</cp:coreProperties>
</file>