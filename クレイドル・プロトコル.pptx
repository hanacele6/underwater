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9"/>
  </p:notesMasterIdLst>
  <p:sldIdLst>
    <p:sldId id="256" r:id="rId2"/>
    <p:sldId id="257" r:id="rId3"/>
    <p:sldId id="258" r:id="rId4"/>
    <p:sldId id="262" r:id="rId5"/>
    <p:sldId id="264" r:id="rId6"/>
    <p:sldId id="266" r:id="rId7"/>
    <p:sldId id="265" r:id="rId8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B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47" autoAdjust="0"/>
  </p:normalViewPr>
  <p:slideViewPr>
    <p:cSldViewPr snapToGrid="0">
      <p:cViewPr varScale="1">
        <p:scale>
          <a:sx n="108" d="100"/>
          <a:sy n="108" d="100"/>
        </p:scale>
        <p:origin x="5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57E5BBBB-1B90-4927-A9C6-94CA1E76F9D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ja-JP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623DF577-0044-4E91-A140-DE0DEBE31FF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5026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3DF577-0044-4E91-A140-DE0DEBE31FF7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9152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3DF577-0044-4E91-A140-DE0DEBE31FF7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0355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607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871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0040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014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 altLang="ja-JP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1604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3309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4790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2938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089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4194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22107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200705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20039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 altLang="ja-JP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 altLang="ja-JP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793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79072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99792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897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13EC9D33-CABD-425B-8B1B-454427432ACE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FB3773A9-02C5-4700-96E3-0D3AAE5FF8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5360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5C0E5D2-453A-985A-D252-117B00A18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24308"/>
            <a:ext cx="12192000" cy="79066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515EA2-516D-EA13-6FEC-AAF6F508DD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1027522"/>
          </a:xfrm>
        </p:spPr>
        <p:txBody>
          <a:bodyPr>
            <a:normAutofit/>
          </a:bodyPr>
          <a:lstStyle/>
          <a:p>
            <a:pPr algn="ctr"/>
            <a:r>
              <a:rPr lang="ja-JP" altLang="ja-JP" sz="6600" b="1" u="sng" dirty="0"/>
              <a:t>CRADLE PROTOCOL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A048CC-7EEE-617E-81B6-A153BE2EA6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482815"/>
            <a:ext cx="12192000" cy="3155623"/>
          </a:xfrm>
        </p:spPr>
        <p:txBody>
          <a:bodyPr>
            <a:noAutofit/>
          </a:bodyPr>
          <a:lstStyle/>
          <a:p>
            <a:pPr algn="l"/>
            <a:endParaRPr lang="en-US" altLang="ja-JP" sz="1400" b="1" dirty="0"/>
          </a:p>
          <a:p>
            <a:pPr algn="l"/>
            <a:endParaRPr lang="en-US" altLang="ja-JP" sz="1400" b="1" dirty="0"/>
          </a:p>
          <a:p>
            <a:pPr algn="l"/>
            <a:r>
              <a:rPr lang="ja-JP" altLang="ja-JP" sz="1400" b="1" dirty="0"/>
              <a:t>■ ジャンル</a:t>
            </a:r>
            <a:r>
              <a:rPr lang="ja-JP" altLang="en-US" sz="1400" dirty="0"/>
              <a:t>：</a:t>
            </a:r>
            <a:r>
              <a:rPr lang="ja-JP" altLang="ja-JP" sz="1400" dirty="0"/>
              <a:t>SFサスペンス・</a:t>
            </a:r>
            <a:r>
              <a:rPr lang="ja-JP" altLang="en-US" sz="1400" dirty="0"/>
              <a:t>３</a:t>
            </a:r>
            <a:r>
              <a:rPr lang="en-US" altLang="ja-JP" sz="1400" dirty="0"/>
              <a:t>D</a:t>
            </a:r>
            <a:r>
              <a:rPr lang="ja-JP" altLang="ja-JP" sz="1400" dirty="0"/>
              <a:t>探索アドベンチャー</a:t>
            </a:r>
          </a:p>
          <a:p>
            <a:pPr algn="l"/>
            <a:r>
              <a:rPr lang="ja-JP" altLang="ja-JP" sz="1400" b="1" dirty="0"/>
              <a:t>■ プラットフォーム / 開発環境</a:t>
            </a:r>
            <a:r>
              <a:rPr lang="ja-JP" altLang="ja-JP" sz="1400" dirty="0"/>
              <a:t> PC</a:t>
            </a:r>
            <a:r>
              <a:rPr lang="ja-JP" altLang="en-US" sz="1400" dirty="0"/>
              <a:t>：</a:t>
            </a:r>
            <a:r>
              <a:rPr lang="ja-JP" altLang="ja-JP" sz="1400" dirty="0"/>
              <a:t>（Steam想定） / Unity・C#</a:t>
            </a:r>
          </a:p>
          <a:p>
            <a:pPr algn="l"/>
            <a:r>
              <a:rPr lang="ja-JP" altLang="ja-JP" sz="1400" b="1" dirty="0"/>
              <a:t>■ ターゲット層：10代後半〜30代の男女</a:t>
            </a:r>
            <a:endParaRPr lang="en-US" altLang="ja-JP" sz="1400" dirty="0"/>
          </a:p>
          <a:p>
            <a:pPr algn="l"/>
            <a:r>
              <a:rPr lang="ja-JP" altLang="en-US" sz="1400" b="1" dirty="0"/>
              <a:t>・</a:t>
            </a:r>
            <a:r>
              <a:rPr lang="ja-JP" altLang="ja-JP" sz="1400" b="1" dirty="0"/>
              <a:t>「考察」を愛する層</a:t>
            </a:r>
            <a:r>
              <a:rPr lang="ja-JP" altLang="ja-JP" sz="1400" dirty="0"/>
              <a:t> 『パラノマサイト』などのミステリーADVを好み、伏線回収やパラダイムシフトに快感を覚えるプレイヤー。</a:t>
            </a:r>
            <a:endParaRPr lang="en-US" altLang="ja-JP" sz="1400" dirty="0"/>
          </a:p>
          <a:p>
            <a:pPr algn="l"/>
            <a:r>
              <a:rPr lang="ja-JP" altLang="en-US" sz="1400" b="1" dirty="0"/>
              <a:t>・</a:t>
            </a:r>
            <a:r>
              <a:rPr lang="ja-JP" altLang="ja-JP" sz="1400" b="1" dirty="0"/>
              <a:t>「心理戦」と「矛盾探し」を好む層</a:t>
            </a:r>
            <a:r>
              <a:rPr lang="ja-JP" altLang="ja-JP" sz="1400" dirty="0"/>
              <a:t> マダミスや推理デスゲームのように、秘匿情報を暴き、証拠を突きつける論理的カタルシスを求める層。</a:t>
            </a:r>
            <a:endParaRPr lang="en-US" altLang="ja-JP" sz="1400" dirty="0"/>
          </a:p>
          <a:p>
            <a:pPr algn="l"/>
            <a:r>
              <a:rPr lang="ja-JP" altLang="en-US" sz="1400" b="1" dirty="0"/>
              <a:t>・</a:t>
            </a:r>
            <a:r>
              <a:rPr lang="ja-JP" altLang="ja-JP" sz="1400" b="1" dirty="0"/>
              <a:t>閉鎖空間のSFサスペンスに惹かれる層</a:t>
            </a:r>
            <a:r>
              <a:rPr lang="ja-JP" altLang="ja-JP" sz="1400" dirty="0"/>
              <a:t> 深海という逃げ場のないシチュエーションや、静かなホラー要素にゾクゾクしたい層。</a:t>
            </a:r>
          </a:p>
          <a:p>
            <a:pPr algn="l"/>
            <a:r>
              <a:rPr lang="ja-JP" altLang="ja-JP" sz="1400" b="1" dirty="0"/>
              <a:t>■ </a:t>
            </a:r>
            <a:r>
              <a:rPr lang="ja-JP" altLang="en-US" sz="1400" b="1" dirty="0"/>
              <a:t>プレイ人数</a:t>
            </a:r>
            <a:r>
              <a:rPr lang="ja-JP" altLang="en-US" sz="1400" dirty="0"/>
              <a:t>：１人</a:t>
            </a:r>
            <a:endParaRPr lang="en-US" altLang="ja-JP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4F3B1-8A33-E634-7268-00B04A0588E6}"/>
              </a:ext>
            </a:extLst>
          </p:cNvPr>
          <p:cNvSpPr txBox="1"/>
          <p:nvPr/>
        </p:nvSpPr>
        <p:spPr>
          <a:xfrm>
            <a:off x="9653803" y="6322961"/>
            <a:ext cx="253819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altLang="ja-JP" sz="1400" b="1" dirty="0"/>
          </a:p>
          <a:p>
            <a:pPr algn="l"/>
            <a:r>
              <a:rPr lang="ja-JP" altLang="en-US" sz="1800" b="1" dirty="0"/>
              <a:t>立教大学　理学研究科</a:t>
            </a:r>
            <a:endParaRPr lang="en-US" altLang="ja-JP" sz="1800" b="1" dirty="0"/>
          </a:p>
          <a:p>
            <a:pPr algn="l"/>
            <a:r>
              <a:rPr lang="ja-JP" altLang="en-US" sz="1800" b="1" dirty="0"/>
              <a:t>正木</a:t>
            </a:r>
            <a:r>
              <a:rPr lang="ja-JP" altLang="ja-JP" sz="1800" b="1" dirty="0"/>
              <a:t>滉己</a:t>
            </a:r>
            <a:endParaRPr lang="en-US" altLang="ja-JP" sz="1800" b="1" dirty="0"/>
          </a:p>
        </p:txBody>
      </p:sp>
    </p:spTree>
    <p:extLst>
      <p:ext uri="{BB962C8B-B14F-4D97-AF65-F5344CB8AC3E}">
        <p14:creationId xmlns:p14="http://schemas.microsoft.com/office/powerpoint/2010/main" val="1054831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96951-C86D-22A5-DA94-8FE5A358B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7109"/>
            <a:ext cx="10515600" cy="695579"/>
          </a:xfrm>
        </p:spPr>
        <p:txBody>
          <a:bodyPr>
            <a:noAutofit/>
          </a:bodyPr>
          <a:lstStyle/>
          <a:p>
            <a:pPr algn="ctr"/>
            <a:r>
              <a:rPr lang="ja-JP" altLang="ja-JP" u="sng" dirty="0">
                <a:latin typeface="游明朝" panose="02020400000000000000" pitchFamily="18" charset="-128"/>
                <a:ea typeface="游明朝" panose="02020400000000000000" pitchFamily="18" charset="-128"/>
              </a:rPr>
              <a:t>コンセプト</a:t>
            </a:r>
            <a:endParaRPr kumimoji="1" lang="ja-JP" altLang="en-US" u="sng" dirty="0">
              <a:latin typeface="游明朝" panose="02020400000000000000" pitchFamily="18" charset="-128"/>
              <a:ea typeface="游明朝" panose="02020400000000000000" pitchFamily="18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33C892-4F46-5F21-9C2D-490D7D293389}"/>
              </a:ext>
            </a:extLst>
          </p:cNvPr>
          <p:cNvSpPr txBox="1"/>
          <p:nvPr/>
        </p:nvSpPr>
        <p:spPr>
          <a:xfrm>
            <a:off x="348996" y="1097280"/>
            <a:ext cx="114940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ja-JP" sz="3200" dirty="0"/>
              <a:t>深海に沈む密室（潜水艦）で目を覚ました記憶喪失の10人——</a:t>
            </a:r>
            <a:endParaRPr kumimoji="1" lang="ja-JP" altLang="en-US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E8B789-6F8C-D944-6EF4-0B15E2DFA905}"/>
              </a:ext>
            </a:extLst>
          </p:cNvPr>
          <p:cNvSpPr/>
          <p:nvPr/>
        </p:nvSpPr>
        <p:spPr>
          <a:xfrm>
            <a:off x="0" y="1682054"/>
            <a:ext cx="6096000" cy="5175945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616C8D-5A29-3D00-CE49-1DF71103434D}"/>
              </a:ext>
            </a:extLst>
          </p:cNvPr>
          <p:cNvSpPr/>
          <p:nvPr/>
        </p:nvSpPr>
        <p:spPr>
          <a:xfrm>
            <a:off x="6096000" y="1682054"/>
            <a:ext cx="6096000" cy="517594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7110C6B2-9793-FE0C-89E7-69F431075952}"/>
              </a:ext>
            </a:extLst>
          </p:cNvPr>
          <p:cNvSpPr/>
          <p:nvPr/>
        </p:nvSpPr>
        <p:spPr>
          <a:xfrm flipV="1">
            <a:off x="5209749" y="1682052"/>
            <a:ext cx="1681825" cy="5175945"/>
          </a:xfrm>
          <a:prstGeom prst="rtTriangle">
            <a:avLst/>
          </a:prstGeom>
          <a:solidFill>
            <a:srgbClr val="FF4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Right Triangle 10">
            <a:extLst>
              <a:ext uri="{FF2B5EF4-FFF2-40B4-BE49-F238E27FC236}">
                <a16:creationId xmlns:a16="http://schemas.microsoft.com/office/drawing/2014/main" id="{1B16199A-DBDA-D027-A814-EEA2E1A1EB2E}"/>
              </a:ext>
            </a:extLst>
          </p:cNvPr>
          <p:cNvSpPr/>
          <p:nvPr/>
        </p:nvSpPr>
        <p:spPr>
          <a:xfrm rot="10800000" flipV="1">
            <a:off x="5209748" y="1682052"/>
            <a:ext cx="1681825" cy="5175945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C16E72-DCD1-D4DF-0AE9-725ED7CF46B6}"/>
              </a:ext>
            </a:extLst>
          </p:cNvPr>
          <p:cNvSpPr txBox="1"/>
          <p:nvPr/>
        </p:nvSpPr>
        <p:spPr>
          <a:xfrm>
            <a:off x="-90679" y="1676991"/>
            <a:ext cx="60944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4000" dirty="0"/>
              <a:t>「誰が裏切り者か？」</a:t>
            </a:r>
            <a:endParaRPr lang="ja-JP" altLang="en-US" sz="4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4C7CC9-5764-7877-296D-E0CA3803E750}"/>
              </a:ext>
            </a:extLst>
          </p:cNvPr>
          <p:cNvSpPr txBox="1"/>
          <p:nvPr/>
        </p:nvSpPr>
        <p:spPr>
          <a:xfrm>
            <a:off x="6711060" y="3439835"/>
            <a:ext cx="624992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4000" dirty="0"/>
              <a:t>「自分たちは何者か？」</a:t>
            </a:r>
            <a:endParaRPr lang="ja-JP" altLang="en-US" sz="4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32B928-AF8A-D98C-3368-F875110DF489}"/>
              </a:ext>
            </a:extLst>
          </p:cNvPr>
          <p:cNvSpPr txBox="1"/>
          <p:nvPr/>
        </p:nvSpPr>
        <p:spPr>
          <a:xfrm rot="20906961">
            <a:off x="-393544" y="3030952"/>
            <a:ext cx="12888409" cy="58477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3200" dirty="0"/>
              <a:t>しかし、仲間の傷口から流れた血は </a:t>
            </a:r>
            <a:r>
              <a:rPr lang="ja-JP" altLang="ja-JP" sz="3200" b="1" dirty="0"/>
              <a:t>[ </a:t>
            </a:r>
            <a:r>
              <a:rPr lang="ja-JP" altLang="ja-JP" sz="3200" b="1" dirty="0">
                <a:solidFill>
                  <a:srgbClr val="FF0000"/>
                </a:solidFill>
              </a:rPr>
              <a:t>赤</a:t>
            </a:r>
            <a:r>
              <a:rPr lang="ja-JP" altLang="ja-JP" sz="3200" b="1" dirty="0"/>
              <a:t> ]</a:t>
            </a:r>
            <a:r>
              <a:rPr lang="ja-JP" altLang="ja-JP" sz="3200" dirty="0"/>
              <a:t> では</a:t>
            </a:r>
            <a:r>
              <a:rPr lang="ja-JP" altLang="en-US" sz="3200" dirty="0"/>
              <a:t>なかった</a:t>
            </a:r>
            <a:r>
              <a:rPr lang="ja-JP" altLang="ja-JP" sz="3200" dirty="0"/>
              <a:t>……</a:t>
            </a:r>
            <a:endParaRPr lang="ja-JP" altLang="en-US" sz="3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9A05E5-4F84-B04F-4B2E-7CFFAD366FAD}"/>
              </a:ext>
            </a:extLst>
          </p:cNvPr>
          <p:cNvSpPr txBox="1"/>
          <p:nvPr/>
        </p:nvSpPr>
        <p:spPr>
          <a:xfrm>
            <a:off x="169923" y="2290568"/>
            <a:ext cx="66111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3200" dirty="0"/>
              <a:t>対話</a:t>
            </a:r>
            <a:r>
              <a:rPr lang="ja-JP" altLang="en-US" sz="3200" dirty="0"/>
              <a:t>と証拠</a:t>
            </a:r>
            <a:r>
              <a:rPr lang="ja-JP" altLang="ja-JP" sz="3200" dirty="0"/>
              <a:t>から嘘と矛盾を突き</a:t>
            </a:r>
            <a:endParaRPr lang="ja-JP" altLang="en-US" sz="3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4D5A62-515E-E0D8-064B-9E8AD2DEA50E}"/>
              </a:ext>
            </a:extLst>
          </p:cNvPr>
          <p:cNvSpPr txBox="1"/>
          <p:nvPr/>
        </p:nvSpPr>
        <p:spPr>
          <a:xfrm>
            <a:off x="169923" y="2842571"/>
            <a:ext cx="76398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3200" dirty="0"/>
              <a:t>互いを疑い合う犯人探し</a:t>
            </a:r>
            <a:endParaRPr lang="ja-JP" altLang="en-US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2A4CAD-D83B-5247-5631-BD505E442D31}"/>
              </a:ext>
            </a:extLst>
          </p:cNvPr>
          <p:cNvSpPr txBox="1"/>
          <p:nvPr/>
        </p:nvSpPr>
        <p:spPr>
          <a:xfrm>
            <a:off x="6574538" y="4037707"/>
            <a:ext cx="66111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3200" dirty="0"/>
              <a:t>己がかつての人間を模倣した</a:t>
            </a:r>
            <a:endParaRPr lang="ja-JP" alt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6BF0D2-BEEC-7068-7B17-7CDC9B26AE4A}"/>
              </a:ext>
            </a:extLst>
          </p:cNvPr>
          <p:cNvSpPr txBox="1"/>
          <p:nvPr/>
        </p:nvSpPr>
        <p:spPr>
          <a:xfrm>
            <a:off x="6186679" y="4622482"/>
            <a:ext cx="71951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3200" b="1" dirty="0">
                <a:solidFill>
                  <a:srgbClr val="002060"/>
                </a:solidFill>
              </a:rPr>
              <a:t>未知の生命体</a:t>
            </a:r>
            <a:r>
              <a:rPr lang="ja-JP" altLang="ja-JP" sz="3200" dirty="0"/>
              <a:t>であるという真実</a:t>
            </a:r>
            <a:endParaRPr lang="ja-JP" altLang="en-US" sz="3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FBE2323-EF0A-42E8-BEFE-072B853BCD80}"/>
              </a:ext>
            </a:extLst>
          </p:cNvPr>
          <p:cNvSpPr/>
          <p:nvPr/>
        </p:nvSpPr>
        <p:spPr>
          <a:xfrm>
            <a:off x="0" y="5126173"/>
            <a:ext cx="12192000" cy="173182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1614B2-32FA-0B12-AEC0-18B0C153274C}"/>
              </a:ext>
            </a:extLst>
          </p:cNvPr>
          <p:cNvSpPr txBox="1"/>
          <p:nvPr/>
        </p:nvSpPr>
        <p:spPr>
          <a:xfrm>
            <a:off x="246888" y="5288340"/>
            <a:ext cx="116982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逃げ場のない</a:t>
            </a:r>
            <a:r>
              <a:rPr lang="ja-JP" altLang="ja-JP" sz="3200" dirty="0"/>
              <a:t>深海の「閉塞感」 × 嘘を暴き合う「</a:t>
            </a:r>
            <a:r>
              <a:rPr lang="ja-JP" altLang="en-US" sz="3200" dirty="0"/>
              <a:t>犯人探し</a:t>
            </a:r>
            <a:r>
              <a:rPr lang="ja-JP" altLang="ja-JP" sz="3200" dirty="0"/>
              <a:t>」</a:t>
            </a:r>
            <a:endParaRPr lang="en-US" altLang="ja-JP" sz="3200" dirty="0"/>
          </a:p>
          <a:p>
            <a:pPr algn="ctr"/>
            <a:r>
              <a:rPr lang="ja-JP" altLang="en-US" sz="3200" dirty="0"/>
              <a:t>そして</a:t>
            </a:r>
            <a:endParaRPr lang="en-US" altLang="ja-JP" sz="3200" dirty="0"/>
          </a:p>
          <a:p>
            <a:pPr algn="ctr"/>
            <a:r>
              <a:rPr lang="ja-JP" altLang="ja-JP" sz="3200" dirty="0"/>
              <a:t>犯人探しがすべて覆</a:t>
            </a:r>
            <a:r>
              <a:rPr lang="ja-JP" altLang="ja-JP" sz="3200"/>
              <a:t>る、</a:t>
            </a:r>
            <a:r>
              <a:rPr lang="ja-JP" altLang="en-US" sz="3200"/>
              <a:t>衝撃的な</a:t>
            </a:r>
            <a:r>
              <a:rPr lang="ja-JP" altLang="ja-JP" sz="3200"/>
              <a:t>パ</a:t>
            </a:r>
            <a:r>
              <a:rPr lang="ja-JP" altLang="ja-JP" sz="3200" dirty="0"/>
              <a:t>ラダイムシフト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91181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A4CC7DA-F51A-2228-41E9-6E0D2C08CA1B}"/>
              </a:ext>
            </a:extLst>
          </p:cNvPr>
          <p:cNvSpPr/>
          <p:nvPr/>
        </p:nvSpPr>
        <p:spPr>
          <a:xfrm>
            <a:off x="8309154" y="1161288"/>
            <a:ext cx="3717947" cy="5568696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EBF6BF3-529A-6B65-CA85-E3818EC7F15A}"/>
              </a:ext>
            </a:extLst>
          </p:cNvPr>
          <p:cNvSpPr/>
          <p:nvPr/>
        </p:nvSpPr>
        <p:spPr>
          <a:xfrm>
            <a:off x="4241956" y="1161288"/>
            <a:ext cx="3717947" cy="5568696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FCAB59E-E541-F401-3A13-25D8B820B637}"/>
              </a:ext>
            </a:extLst>
          </p:cNvPr>
          <p:cNvSpPr/>
          <p:nvPr/>
        </p:nvSpPr>
        <p:spPr>
          <a:xfrm>
            <a:off x="100584" y="1161288"/>
            <a:ext cx="3717947" cy="5568696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Picture 25" descr="斜に構える人のイラスト（男性）">
            <a:extLst>
              <a:ext uri="{FF2B5EF4-FFF2-40B4-BE49-F238E27FC236}">
                <a16:creationId xmlns:a16="http://schemas.microsoft.com/office/drawing/2014/main" id="{D48484EC-09A1-9AF9-A30F-AAF0D0C0CA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5199" y="1875212"/>
            <a:ext cx="1283208" cy="14749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94076D-005F-AB71-51E1-9312A6474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Autofit/>
          </a:bodyPr>
          <a:lstStyle/>
          <a:p>
            <a:pPr algn="ctr"/>
            <a:r>
              <a:rPr lang="ja-JP" altLang="ja-JP" sz="4000" u="sng" dirty="0">
                <a:latin typeface="游明朝" panose="02020400000000000000" pitchFamily="18" charset="-128"/>
                <a:ea typeface="游明朝" panose="02020400000000000000" pitchFamily="18" charset="-128"/>
              </a:rPr>
              <a:t>『クレイドル・プロトコル』を形作る3つの</a:t>
            </a:r>
            <a:r>
              <a:rPr lang="ja-JP" altLang="en-US" sz="4000" u="sng" dirty="0">
                <a:latin typeface="游明朝" panose="02020400000000000000" pitchFamily="18" charset="-128"/>
                <a:ea typeface="游明朝" panose="02020400000000000000" pitchFamily="18" charset="-128"/>
              </a:rPr>
              <a:t>要素</a:t>
            </a:r>
            <a:endParaRPr kumimoji="1" lang="ja-JP" altLang="en-US" sz="4000" u="sng" dirty="0">
              <a:latin typeface="游明朝" panose="02020400000000000000" pitchFamily="18" charset="-128"/>
              <a:ea typeface="游明朝" panose="02020400000000000000" pitchFamily="18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0C25C1-7B28-2ED7-D355-8F9DB1DC9651}"/>
              </a:ext>
            </a:extLst>
          </p:cNvPr>
          <p:cNvSpPr txBox="1"/>
          <p:nvPr/>
        </p:nvSpPr>
        <p:spPr>
          <a:xfrm>
            <a:off x="-58774" y="1411198"/>
            <a:ext cx="4123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ja-JP" sz="2000" b="1" dirty="0"/>
              <a:t>視覚を奪う「深海ホラー」</a:t>
            </a:r>
            <a:endParaRPr kumimoji="1" lang="ja-JP" altLang="en-US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3B74AD-9B2C-8CF0-16A7-4C86BC813EC4}"/>
              </a:ext>
            </a:extLst>
          </p:cNvPr>
          <p:cNvSpPr txBox="1"/>
          <p:nvPr/>
        </p:nvSpPr>
        <p:spPr>
          <a:xfrm>
            <a:off x="4228670" y="1411198"/>
            <a:ext cx="39014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ja-JP" sz="2000" b="1" dirty="0"/>
              <a:t>トライ＆エラーを生む「</a:t>
            </a:r>
            <a:r>
              <a:rPr lang="ja-JP" altLang="en-US" sz="2000" b="1" dirty="0"/>
              <a:t>合成</a:t>
            </a:r>
            <a:r>
              <a:rPr lang="ja-JP" altLang="ja-JP" sz="2000" b="1" dirty="0"/>
              <a:t>」</a:t>
            </a:r>
            <a:endParaRPr kumimoji="1" lang="ja-JP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08DF64-690A-7DB2-5D8C-AF3DC9B5CB50}"/>
              </a:ext>
            </a:extLst>
          </p:cNvPr>
          <p:cNvSpPr txBox="1"/>
          <p:nvPr/>
        </p:nvSpPr>
        <p:spPr>
          <a:xfrm>
            <a:off x="8293608" y="1411198"/>
            <a:ext cx="3749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ja-JP" sz="2000" b="1" dirty="0"/>
              <a:t>真実と嘘を暴く「対話と推理」</a:t>
            </a:r>
            <a:endParaRPr kumimoji="1" lang="ja-JP" altLang="en-US" sz="2000" b="1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4D50788-6887-C5C9-5E38-66E3DD39D3CA}"/>
              </a:ext>
            </a:extLst>
          </p:cNvPr>
          <p:cNvSpPr/>
          <p:nvPr/>
        </p:nvSpPr>
        <p:spPr>
          <a:xfrm>
            <a:off x="4556762" y="2825496"/>
            <a:ext cx="731520" cy="755066"/>
          </a:xfrm>
          <a:custGeom>
            <a:avLst/>
            <a:gdLst>
              <a:gd name="csX0" fmla="*/ 411480 w 1216152"/>
              <a:gd name="csY0" fmla="*/ 0 h 1426467"/>
              <a:gd name="csX1" fmla="*/ 804672 w 1216152"/>
              <a:gd name="csY1" fmla="*/ 0 h 1426467"/>
              <a:gd name="csX2" fmla="*/ 804672 w 1216152"/>
              <a:gd name="csY2" fmla="*/ 524655 h 1426467"/>
              <a:gd name="csX3" fmla="*/ 844767 w 1216152"/>
              <a:gd name="csY3" fmla="*/ 534160 h 1426467"/>
              <a:gd name="csX4" fmla="*/ 1216152 w 1216152"/>
              <a:gd name="csY4" fmla="*/ 962066 h 1426467"/>
              <a:gd name="csX5" fmla="*/ 608076 w 1216152"/>
              <a:gd name="csY5" fmla="*/ 1426467 h 1426467"/>
              <a:gd name="csX6" fmla="*/ 0 w 1216152"/>
              <a:gd name="csY6" fmla="*/ 962066 h 1426467"/>
              <a:gd name="csX7" fmla="*/ 371385 w 1216152"/>
              <a:gd name="csY7" fmla="*/ 534160 h 1426467"/>
              <a:gd name="csX8" fmla="*/ 411480 w 1216152"/>
              <a:gd name="csY8" fmla="*/ 524655 h 1426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6152" h="1426467">
                <a:moveTo>
                  <a:pt x="411480" y="0"/>
                </a:moveTo>
                <a:lnTo>
                  <a:pt x="804672" y="0"/>
                </a:lnTo>
                <a:lnTo>
                  <a:pt x="804672" y="524655"/>
                </a:lnTo>
                <a:lnTo>
                  <a:pt x="844767" y="534160"/>
                </a:lnTo>
                <a:cubicBezTo>
                  <a:pt x="1063014" y="604660"/>
                  <a:pt x="1216152" y="769705"/>
                  <a:pt x="1216152" y="962066"/>
                </a:cubicBezTo>
                <a:cubicBezTo>
                  <a:pt x="1216152" y="1218548"/>
                  <a:pt x="943907" y="1426467"/>
                  <a:pt x="608076" y="1426467"/>
                </a:cubicBezTo>
                <a:cubicBezTo>
                  <a:pt x="272245" y="1426467"/>
                  <a:pt x="0" y="1218548"/>
                  <a:pt x="0" y="962066"/>
                </a:cubicBezTo>
                <a:cubicBezTo>
                  <a:pt x="0" y="769705"/>
                  <a:pt x="153138" y="604660"/>
                  <a:pt x="371385" y="534160"/>
                </a:cubicBezTo>
                <a:lnTo>
                  <a:pt x="411480" y="52465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5" name="Cloud 14">
            <a:extLst>
              <a:ext uri="{FF2B5EF4-FFF2-40B4-BE49-F238E27FC236}">
                <a16:creationId xmlns:a16="http://schemas.microsoft.com/office/drawing/2014/main" id="{4B0730AC-43A4-BF33-8C2A-B2610F3A147D}"/>
              </a:ext>
            </a:extLst>
          </p:cNvPr>
          <p:cNvSpPr/>
          <p:nvPr/>
        </p:nvSpPr>
        <p:spPr>
          <a:xfrm>
            <a:off x="4250414" y="1970514"/>
            <a:ext cx="399286" cy="508174"/>
          </a:xfrm>
          <a:prstGeom prst="cloud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Cylinder 15">
            <a:extLst>
              <a:ext uri="{FF2B5EF4-FFF2-40B4-BE49-F238E27FC236}">
                <a16:creationId xmlns:a16="http://schemas.microsoft.com/office/drawing/2014/main" id="{F26BD605-63F0-BC04-8FFF-556BC6901143}"/>
              </a:ext>
            </a:extLst>
          </p:cNvPr>
          <p:cNvSpPr/>
          <p:nvPr/>
        </p:nvSpPr>
        <p:spPr>
          <a:xfrm rot="2404911">
            <a:off x="4846408" y="1776986"/>
            <a:ext cx="292608" cy="539814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00A5B47-FC5A-217C-531B-DDA7F7D72D2B}"/>
              </a:ext>
            </a:extLst>
          </p:cNvPr>
          <p:cNvSpPr/>
          <p:nvPr/>
        </p:nvSpPr>
        <p:spPr>
          <a:xfrm rot="3112656">
            <a:off x="4477064" y="2533984"/>
            <a:ext cx="466344" cy="1737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45A2D8E5-B3FA-BB8C-97AC-49492EEE316A}"/>
              </a:ext>
            </a:extLst>
          </p:cNvPr>
          <p:cNvSpPr/>
          <p:nvPr/>
        </p:nvSpPr>
        <p:spPr>
          <a:xfrm rot="6221763">
            <a:off x="4798892" y="2443097"/>
            <a:ext cx="466344" cy="1737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D0009A-B10C-8E95-3FF8-40A8D708A1C0}"/>
              </a:ext>
            </a:extLst>
          </p:cNvPr>
          <p:cNvSpPr txBox="1"/>
          <p:nvPr/>
        </p:nvSpPr>
        <p:spPr>
          <a:xfrm>
            <a:off x="5216410" y="2487926"/>
            <a:ext cx="91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合成！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C57DF73-8CE0-4B5E-5C58-B2AA73CE0733}"/>
              </a:ext>
            </a:extLst>
          </p:cNvPr>
          <p:cNvSpPr/>
          <p:nvPr/>
        </p:nvSpPr>
        <p:spPr>
          <a:xfrm>
            <a:off x="5323478" y="2907234"/>
            <a:ext cx="466344" cy="2957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Cloud 20">
            <a:extLst>
              <a:ext uri="{FF2B5EF4-FFF2-40B4-BE49-F238E27FC236}">
                <a16:creationId xmlns:a16="http://schemas.microsoft.com/office/drawing/2014/main" id="{671B653B-6AD0-31B9-DFF7-A3A4D47B8059}"/>
              </a:ext>
            </a:extLst>
          </p:cNvPr>
          <p:cNvSpPr/>
          <p:nvPr/>
        </p:nvSpPr>
        <p:spPr>
          <a:xfrm>
            <a:off x="6096000" y="2428145"/>
            <a:ext cx="1283208" cy="1152417"/>
          </a:xfrm>
          <a:prstGeom prst="cloud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solidFill>
                  <a:srgbClr val="FF0000"/>
                </a:solidFill>
              </a:rPr>
              <a:t>？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D994502-55A9-6FE1-0B4D-5C42FBB97E6F}"/>
              </a:ext>
            </a:extLst>
          </p:cNvPr>
          <p:cNvSpPr/>
          <p:nvPr/>
        </p:nvSpPr>
        <p:spPr>
          <a:xfrm>
            <a:off x="4606658" y="3297044"/>
            <a:ext cx="634628" cy="261661"/>
          </a:xfrm>
          <a:custGeom>
            <a:avLst/>
            <a:gdLst>
              <a:gd name="csX0" fmla="*/ 4644 w 716282"/>
              <a:gd name="csY0" fmla="*/ 0 h 277387"/>
              <a:gd name="csX1" fmla="*/ 711639 w 716282"/>
              <a:gd name="csY1" fmla="*/ 0 h 277387"/>
              <a:gd name="csX2" fmla="*/ 716282 w 716282"/>
              <a:gd name="csY2" fmla="*/ 31611 h 277387"/>
              <a:gd name="csX3" fmla="*/ 358141 w 716282"/>
              <a:gd name="csY3" fmla="*/ 277387 h 277387"/>
              <a:gd name="csX4" fmla="*/ 0 w 716282"/>
              <a:gd name="csY4" fmla="*/ 31611 h 2773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6282" h="277387">
                <a:moveTo>
                  <a:pt x="4644" y="0"/>
                </a:moveTo>
                <a:lnTo>
                  <a:pt x="711639" y="0"/>
                </a:lnTo>
                <a:lnTo>
                  <a:pt x="716282" y="31611"/>
                </a:lnTo>
                <a:cubicBezTo>
                  <a:pt x="716282" y="167349"/>
                  <a:pt x="555937" y="277387"/>
                  <a:pt x="358141" y="277387"/>
                </a:cubicBezTo>
                <a:cubicBezTo>
                  <a:pt x="160345" y="277387"/>
                  <a:pt x="0" y="167349"/>
                  <a:pt x="0" y="31611"/>
                </a:cubicBezTo>
                <a:close/>
              </a:path>
            </a:pathLst>
          </a:cu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4754B6B-4586-BE63-D348-25CD23ECC43D}"/>
              </a:ext>
            </a:extLst>
          </p:cNvPr>
          <p:cNvSpPr/>
          <p:nvPr/>
        </p:nvSpPr>
        <p:spPr>
          <a:xfrm>
            <a:off x="8531352" y="2869534"/>
            <a:ext cx="3081528" cy="6891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なにか根拠があるのか？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130C6B-FEC1-EC3D-2730-DA936892C9C4}"/>
              </a:ext>
            </a:extLst>
          </p:cNvPr>
          <p:cNvSpPr/>
          <p:nvPr/>
        </p:nvSpPr>
        <p:spPr>
          <a:xfrm>
            <a:off x="10305289" y="1983680"/>
            <a:ext cx="1438656" cy="40011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A</a:t>
            </a:r>
            <a:r>
              <a:rPr kumimoji="1" lang="ja-JP" altLang="en-US" dirty="0"/>
              <a:t>を見せる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C14ADE-10A7-3942-F6E7-4F8C45609BD3}"/>
              </a:ext>
            </a:extLst>
          </p:cNvPr>
          <p:cNvSpPr/>
          <p:nvPr/>
        </p:nvSpPr>
        <p:spPr>
          <a:xfrm>
            <a:off x="10305289" y="2412632"/>
            <a:ext cx="1438656" cy="40011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65000"/>
                  </a:schemeClr>
                </a:solidFill>
              </a:rPr>
              <a:t>B</a:t>
            </a:r>
            <a:r>
              <a:rPr kumimoji="1" lang="ja-JP" altLang="en-US" dirty="0">
                <a:solidFill>
                  <a:schemeClr val="tx1">
                    <a:lumMod val="65000"/>
                  </a:schemeClr>
                </a:solidFill>
              </a:rPr>
              <a:t>を見せる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7EF5E8-6426-EAD1-D4B7-8ECFFEDCAC0C}"/>
              </a:ext>
            </a:extLst>
          </p:cNvPr>
          <p:cNvSpPr txBox="1"/>
          <p:nvPr/>
        </p:nvSpPr>
        <p:spPr>
          <a:xfrm>
            <a:off x="256032" y="3767328"/>
            <a:ext cx="342899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solidFill>
                  <a:srgbClr val="002060"/>
                </a:solidFill>
              </a:rPr>
              <a:t>得られる情報は音のみ</a:t>
            </a:r>
            <a:endParaRPr lang="en-US" altLang="ja-JP" b="1" dirty="0">
              <a:solidFill>
                <a:srgbClr val="002060"/>
              </a:solidFill>
            </a:endParaRPr>
          </a:p>
          <a:p>
            <a:r>
              <a:rPr lang="ja-JP" altLang="ja-JP" dirty="0"/>
              <a:t>・分厚い隔壁により外の景色は一切見えない</a:t>
            </a:r>
            <a:endParaRPr lang="en-US" altLang="ja-JP" dirty="0"/>
          </a:p>
          <a:p>
            <a:endParaRPr lang="ja-JP" altLang="ja-JP" dirty="0"/>
          </a:p>
          <a:p>
            <a:r>
              <a:rPr lang="ja-JP" altLang="en-US" dirty="0"/>
              <a:t>・潜水艦なのでどこかに逃げることもできない</a:t>
            </a:r>
            <a:endParaRPr lang="en-US" altLang="ja-JP" dirty="0"/>
          </a:p>
          <a:p>
            <a:br>
              <a:rPr lang="ja-JP" altLang="ja-JP" dirty="0"/>
            </a:br>
            <a:r>
              <a:rPr lang="ja-JP" altLang="ja-JP" dirty="0"/>
              <a:t>・「外に何かがいる」と想像させ極限の恐怖を煽る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226090-7443-0947-128E-1C3CAFA846C0}"/>
              </a:ext>
            </a:extLst>
          </p:cNvPr>
          <p:cNvSpPr txBox="1"/>
          <p:nvPr/>
        </p:nvSpPr>
        <p:spPr>
          <a:xfrm>
            <a:off x="4381500" y="3767327"/>
            <a:ext cx="34289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b="1" dirty="0">
                <a:solidFill>
                  <a:srgbClr val="002060"/>
                </a:solidFill>
              </a:rPr>
              <a:t>繰り返し遊べる</a:t>
            </a:r>
            <a:r>
              <a:rPr lang="ja-JP" altLang="en-US" b="1" dirty="0">
                <a:solidFill>
                  <a:srgbClr val="002060"/>
                </a:solidFill>
              </a:rPr>
              <a:t>遊び</a:t>
            </a:r>
            <a:r>
              <a:rPr lang="ja-JP" altLang="ja-JP" b="1" dirty="0">
                <a:solidFill>
                  <a:srgbClr val="002060"/>
                </a:solidFill>
              </a:rPr>
              <a:t>のサイクル</a:t>
            </a:r>
            <a:endParaRPr lang="en-US" altLang="ja-JP" b="1" dirty="0">
              <a:solidFill>
                <a:srgbClr val="002060"/>
              </a:solidFill>
            </a:endParaRPr>
          </a:p>
          <a:p>
            <a:endParaRPr kumimoji="1" lang="en-US" altLang="ja-JP" dirty="0"/>
          </a:p>
          <a:p>
            <a:r>
              <a:rPr lang="ja-JP" altLang="en-US" dirty="0"/>
              <a:t>潜水艦の操作</a:t>
            </a:r>
            <a:r>
              <a:rPr lang="ja-JP" altLang="ja-JP" dirty="0"/>
              <a:t>で採取したサンプルを</a:t>
            </a:r>
            <a:r>
              <a:rPr lang="ja-JP" altLang="en-US" dirty="0"/>
              <a:t>合成</a:t>
            </a:r>
            <a:r>
              <a:rPr lang="ja-JP" altLang="ja-JP" dirty="0"/>
              <a:t>し、</a:t>
            </a:r>
            <a:r>
              <a:rPr lang="ja-JP" altLang="en-US" dirty="0"/>
              <a:t>潜水艦をアップグレード。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未知のレシピを求め</a:t>
            </a:r>
            <a:r>
              <a:rPr lang="ja-JP" altLang="ja-JP" dirty="0"/>
              <a:t>繰り返しプレイしたくなる動機を生み出す。</a:t>
            </a:r>
            <a:endParaRPr kumimoji="1" lang="ja-JP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43762B-03F0-AF9D-0C4A-32B52A173FD1}"/>
              </a:ext>
            </a:extLst>
          </p:cNvPr>
          <p:cNvSpPr txBox="1"/>
          <p:nvPr/>
        </p:nvSpPr>
        <p:spPr>
          <a:xfrm>
            <a:off x="8531352" y="3767327"/>
            <a:ext cx="340461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b="1" dirty="0">
                <a:solidFill>
                  <a:srgbClr val="002060"/>
                </a:solidFill>
              </a:rPr>
              <a:t>真実と嘘を暴く「対話と推理」</a:t>
            </a:r>
            <a:endParaRPr lang="en-US" altLang="ja-JP" b="1" dirty="0">
              <a:solidFill>
                <a:srgbClr val="002060"/>
              </a:solidFill>
            </a:endParaRPr>
          </a:p>
          <a:p>
            <a:endParaRPr kumimoji="1" lang="en-US" altLang="ja-JP" dirty="0"/>
          </a:p>
          <a:p>
            <a:r>
              <a:rPr lang="ja-JP" altLang="ja-JP" dirty="0"/>
              <a:t>10人</a:t>
            </a:r>
            <a:r>
              <a:rPr lang="ja-JP" altLang="en-US" dirty="0"/>
              <a:t>のキャラクター</a:t>
            </a:r>
            <a:r>
              <a:rPr lang="ja-JP" altLang="ja-JP" dirty="0"/>
              <a:t>と</a:t>
            </a:r>
            <a:r>
              <a:rPr lang="ja-JP" altLang="en-US" dirty="0"/>
              <a:t>の</a:t>
            </a:r>
            <a:r>
              <a:rPr lang="ja-JP" altLang="ja-JP" dirty="0"/>
              <a:t>対話</a:t>
            </a:r>
            <a:r>
              <a:rPr lang="ja-JP" altLang="en-US" dirty="0"/>
              <a:t>、潜水艦内部の探索で</a:t>
            </a:r>
            <a:r>
              <a:rPr lang="ja-JP" altLang="ja-JP" dirty="0"/>
              <a:t>得られた情報から互いの嘘や矛盾を突く。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ja-JP" dirty="0"/>
              <a:t>誰が味方で誰が敵かを探り合う過程がプレイヤーを引き込み、やがて反転する世界の真実へと直結していく。</a:t>
            </a:r>
            <a:endParaRPr kumimoji="1" lang="ja-JP" alt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7A03565-797D-AA33-7713-2A35528543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70" y="1801115"/>
            <a:ext cx="3009860" cy="195192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EE9EAC-7A52-CFD8-F698-F8CEF8D87B96}"/>
              </a:ext>
            </a:extLst>
          </p:cNvPr>
          <p:cNvSpPr txBox="1"/>
          <p:nvPr/>
        </p:nvSpPr>
        <p:spPr>
          <a:xfrm rot="21156479">
            <a:off x="431313" y="1992499"/>
            <a:ext cx="2243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うぉー～（鳴き声）</a:t>
            </a:r>
          </a:p>
        </p:txBody>
      </p:sp>
      <p:pic>
        <p:nvPicPr>
          <p:cNvPr id="9" name="Picture 8" descr="臆病な人のイラスト（男性）">
            <a:extLst>
              <a:ext uri="{FF2B5EF4-FFF2-40B4-BE49-F238E27FC236}">
                <a16:creationId xmlns:a16="http://schemas.microsoft.com/office/drawing/2014/main" id="{9D4A0847-10D0-649C-6DBC-41868726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906" y="2255166"/>
            <a:ext cx="1101255" cy="14348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9267AF0-43C2-7F39-06AA-6C1E35E6CD82}"/>
              </a:ext>
            </a:extLst>
          </p:cNvPr>
          <p:cNvSpPr txBox="1"/>
          <p:nvPr/>
        </p:nvSpPr>
        <p:spPr>
          <a:xfrm>
            <a:off x="407681" y="3216697"/>
            <a:ext cx="2620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外に何がいるんだ？！</a:t>
            </a:r>
          </a:p>
        </p:txBody>
      </p:sp>
    </p:spTree>
    <p:extLst>
      <p:ext uri="{BB962C8B-B14F-4D97-AF65-F5344CB8AC3E}">
        <p14:creationId xmlns:p14="http://schemas.microsoft.com/office/powerpoint/2010/main" val="1499587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5444D116-F57B-DCC7-CF89-9146B71479AB}"/>
              </a:ext>
            </a:extLst>
          </p:cNvPr>
          <p:cNvSpPr/>
          <p:nvPr/>
        </p:nvSpPr>
        <p:spPr>
          <a:xfrm>
            <a:off x="58673" y="706272"/>
            <a:ext cx="11983214" cy="10352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0A42DC-947D-C3FA-331C-415800276364}"/>
              </a:ext>
            </a:extLst>
          </p:cNvPr>
          <p:cNvSpPr/>
          <p:nvPr/>
        </p:nvSpPr>
        <p:spPr>
          <a:xfrm>
            <a:off x="759405" y="5167720"/>
            <a:ext cx="2437257" cy="10352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62ADF8-67EF-2D54-6F86-D816B8BA7ADA}"/>
              </a:ext>
            </a:extLst>
          </p:cNvPr>
          <p:cNvSpPr/>
          <p:nvPr/>
        </p:nvSpPr>
        <p:spPr>
          <a:xfrm>
            <a:off x="6280272" y="1981089"/>
            <a:ext cx="4479800" cy="16174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690951-08CE-71C9-E532-6239034EF864}"/>
              </a:ext>
            </a:extLst>
          </p:cNvPr>
          <p:cNvSpPr/>
          <p:nvPr/>
        </p:nvSpPr>
        <p:spPr>
          <a:xfrm>
            <a:off x="777587" y="2070349"/>
            <a:ext cx="2437257" cy="27533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14E55E-F73C-E6A9-FA38-141942177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77"/>
            <a:ext cx="10515600" cy="686435"/>
          </a:xfrm>
        </p:spPr>
        <p:txBody>
          <a:bodyPr>
            <a:normAutofit/>
          </a:bodyPr>
          <a:lstStyle/>
          <a:p>
            <a:pPr algn="ctr"/>
            <a:r>
              <a:rPr lang="ja-JP" altLang="ja-JP" sz="4000" u="sng" dirty="0"/>
              <a:t>ゲームフロー</a:t>
            </a:r>
            <a:endParaRPr kumimoji="1" lang="ja-JP" altLang="en-US" sz="4000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F6759-CA1D-2018-5AC4-9040AD7E7554}"/>
              </a:ext>
            </a:extLst>
          </p:cNvPr>
          <p:cNvSpPr txBox="1"/>
          <p:nvPr/>
        </p:nvSpPr>
        <p:spPr>
          <a:xfrm>
            <a:off x="881693" y="2495047"/>
            <a:ext cx="2254377" cy="40011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ミッションの選択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19F157-1156-6DD1-4C13-4D620CFBA1F6}"/>
              </a:ext>
            </a:extLst>
          </p:cNvPr>
          <p:cNvSpPr txBox="1"/>
          <p:nvPr/>
        </p:nvSpPr>
        <p:spPr>
          <a:xfrm>
            <a:off x="7392983" y="1803742"/>
            <a:ext cx="2254377" cy="40011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dirty="0"/>
              <a:t>潜水艦の操作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1B546B-DC09-9331-EBF8-FCA28E696A47}"/>
              </a:ext>
            </a:extLst>
          </p:cNvPr>
          <p:cNvSpPr txBox="1"/>
          <p:nvPr/>
        </p:nvSpPr>
        <p:spPr>
          <a:xfrm>
            <a:off x="850846" y="1938454"/>
            <a:ext cx="2254377" cy="40011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dirty="0"/>
              <a:t>１日の始まり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2A2037-2B59-3346-1B5D-DE714831B573}"/>
              </a:ext>
            </a:extLst>
          </p:cNvPr>
          <p:cNvSpPr txBox="1"/>
          <p:nvPr/>
        </p:nvSpPr>
        <p:spPr>
          <a:xfrm>
            <a:off x="850846" y="4976935"/>
            <a:ext cx="2254377" cy="40011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dirty="0"/>
              <a:t>１</a:t>
            </a:r>
            <a:r>
              <a:rPr lang="ja-JP" altLang="ja-JP" sz="2000" dirty="0"/>
              <a:t>日の終わり</a:t>
            </a:r>
            <a:endParaRPr kumimoji="1" lang="ja-JP" altLang="en-US" sz="2000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8D86CAA-2517-2B05-146A-154A57C6D4AB}"/>
              </a:ext>
            </a:extLst>
          </p:cNvPr>
          <p:cNvSpPr/>
          <p:nvPr/>
        </p:nvSpPr>
        <p:spPr>
          <a:xfrm>
            <a:off x="3934432" y="2452064"/>
            <a:ext cx="1626251" cy="6427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FDEEA1-5F17-01D1-9BEE-BE968D7363FD}"/>
              </a:ext>
            </a:extLst>
          </p:cNvPr>
          <p:cNvSpPr txBox="1"/>
          <p:nvPr/>
        </p:nvSpPr>
        <p:spPr>
          <a:xfrm>
            <a:off x="869025" y="3033663"/>
            <a:ext cx="225437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>
                <a:solidFill>
                  <a:sysClr val="windowText" lastClr="000000"/>
                </a:solidFill>
              </a:rPr>
              <a:t>例</a:t>
            </a:r>
            <a:endParaRPr kumimoji="1" lang="en-US" altLang="ja-JP" sz="1600" dirty="0">
              <a:solidFill>
                <a:sysClr val="windowText" lastClr="000000"/>
              </a:solidFill>
            </a:endParaRPr>
          </a:p>
          <a:p>
            <a:r>
              <a:rPr kumimoji="1" lang="ja-JP" altLang="en-US" sz="1600" dirty="0">
                <a:solidFill>
                  <a:sysClr val="windowText" lastClr="000000"/>
                </a:solidFill>
              </a:rPr>
              <a:t>特定のアイテムの回収</a:t>
            </a:r>
            <a:endParaRPr kumimoji="1" lang="en-US" altLang="ja-JP" sz="1600" dirty="0">
              <a:solidFill>
                <a:sysClr val="windowText" lastClr="000000"/>
              </a:solidFill>
            </a:endParaRPr>
          </a:p>
          <a:p>
            <a:endParaRPr kumimoji="1" lang="en-US" altLang="ja-JP" sz="1600" dirty="0">
              <a:solidFill>
                <a:sysClr val="windowText" lastClr="000000"/>
              </a:solidFill>
            </a:endParaRPr>
          </a:p>
          <a:p>
            <a:r>
              <a:rPr kumimoji="1" lang="ja-JP" altLang="en-US" sz="1600" dirty="0">
                <a:solidFill>
                  <a:sysClr val="windowText" lastClr="000000"/>
                </a:solidFill>
              </a:rPr>
              <a:t>特定のエリアへの到達</a:t>
            </a:r>
            <a:endParaRPr kumimoji="1" lang="en-US" altLang="ja-JP" sz="1600" dirty="0">
              <a:solidFill>
                <a:sysClr val="windowText" lastClr="000000"/>
              </a:solidFill>
            </a:endParaRPr>
          </a:p>
          <a:p>
            <a:endParaRPr kumimoji="1" lang="en-US" altLang="ja-JP" sz="1600" dirty="0">
              <a:solidFill>
                <a:sysClr val="windowText" lastClr="000000"/>
              </a:solidFill>
            </a:endParaRPr>
          </a:p>
          <a:p>
            <a:r>
              <a:rPr kumimoji="1" lang="ja-JP" altLang="en-US" sz="1600" dirty="0">
                <a:solidFill>
                  <a:sysClr val="windowText" lastClr="000000"/>
                </a:solidFill>
              </a:rPr>
              <a:t>特定の生物の調査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6F3831-82E1-2AD6-2DB7-8C9AD6AF3421}"/>
              </a:ext>
            </a:extLst>
          </p:cNvPr>
          <p:cNvSpPr txBox="1"/>
          <p:nvPr/>
        </p:nvSpPr>
        <p:spPr>
          <a:xfrm>
            <a:off x="150109" y="509311"/>
            <a:ext cx="2254377" cy="40011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dirty="0"/>
              <a:t>ゲームの概要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B63A7D-A4F5-A1D2-254A-A1C4F4C8598A}"/>
              </a:ext>
            </a:extLst>
          </p:cNvPr>
          <p:cNvSpPr txBox="1"/>
          <p:nvPr/>
        </p:nvSpPr>
        <p:spPr>
          <a:xfrm>
            <a:off x="150109" y="865615"/>
            <a:ext cx="116365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・</a:t>
            </a:r>
            <a:r>
              <a:rPr lang="ja-JP" altLang="ja-JP" dirty="0">
                <a:solidFill>
                  <a:schemeClr val="bg1"/>
                </a:solidFill>
              </a:rPr>
              <a:t>目を覚ました主人公たちは、潜水艦がもともと帯びていたミッションを</a:t>
            </a:r>
            <a:r>
              <a:rPr lang="ja-JP" altLang="en-US" dirty="0">
                <a:solidFill>
                  <a:schemeClr val="bg1"/>
                </a:solidFill>
              </a:rPr>
              <a:t>１</a:t>
            </a:r>
            <a:r>
              <a:rPr lang="ja-JP" altLang="ja-JP" dirty="0">
                <a:solidFill>
                  <a:schemeClr val="bg1"/>
                </a:solidFill>
              </a:rPr>
              <a:t>日</a:t>
            </a:r>
            <a:r>
              <a:rPr lang="ja-JP" altLang="en-US" dirty="0">
                <a:solidFill>
                  <a:schemeClr val="bg1"/>
                </a:solidFill>
              </a:rPr>
              <a:t>１</a:t>
            </a:r>
            <a:r>
              <a:rPr lang="ja-JP" altLang="ja-JP" dirty="0">
                <a:solidFill>
                  <a:schemeClr val="bg1"/>
                </a:solidFill>
              </a:rPr>
              <a:t>つ遂行していく。 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</a:t>
            </a:r>
            <a:r>
              <a:rPr lang="ja-JP" altLang="ja-JP" dirty="0">
                <a:solidFill>
                  <a:schemeClr val="bg1"/>
                </a:solidFill>
              </a:rPr>
              <a:t>探索で回収したアイテムを「合成」して艦の機能を復旧させながら情報を集め</a:t>
            </a:r>
            <a:r>
              <a:rPr lang="ja-JP" altLang="en-US" dirty="0">
                <a:solidFill>
                  <a:schemeClr val="bg1"/>
                </a:solidFill>
              </a:rPr>
              <a:t>る。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</a:t>
            </a:r>
            <a:r>
              <a:rPr lang="ja-JP" altLang="ja-JP" dirty="0">
                <a:solidFill>
                  <a:schemeClr val="bg1"/>
                </a:solidFill>
              </a:rPr>
              <a:t>やがて仲間内に潜む嘘を暴く「犯人探し（心理戦）」へと挑むことになる。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87AA1DCB-B341-1279-7F84-0E5BE7A97A32}"/>
              </a:ext>
            </a:extLst>
          </p:cNvPr>
          <p:cNvSpPr/>
          <p:nvPr/>
        </p:nvSpPr>
        <p:spPr>
          <a:xfrm rot="10800000">
            <a:off x="3934431" y="4773074"/>
            <a:ext cx="1626251" cy="64273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4C710E9-3E35-6569-A0F4-F9F6A99535AB}"/>
              </a:ext>
            </a:extLst>
          </p:cNvPr>
          <p:cNvSpPr txBox="1"/>
          <p:nvPr/>
        </p:nvSpPr>
        <p:spPr>
          <a:xfrm>
            <a:off x="850844" y="5453988"/>
            <a:ext cx="2254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ja-JP" dirty="0">
                <a:solidFill>
                  <a:sysClr val="windowText" lastClr="000000"/>
                </a:solidFill>
              </a:rPr>
              <a:t>任意のタイミングで終了し、次の日へ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B89908E-6E6F-7810-D41E-38C410510F96}"/>
              </a:ext>
            </a:extLst>
          </p:cNvPr>
          <p:cNvSpPr/>
          <p:nvPr/>
        </p:nvSpPr>
        <p:spPr>
          <a:xfrm>
            <a:off x="6313605" y="4183713"/>
            <a:ext cx="4479800" cy="19680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38F0728-F2EE-6DC2-CD84-3AE7A935DA43}"/>
              </a:ext>
            </a:extLst>
          </p:cNvPr>
          <p:cNvSpPr txBox="1"/>
          <p:nvPr/>
        </p:nvSpPr>
        <p:spPr>
          <a:xfrm>
            <a:off x="7426316" y="4006367"/>
            <a:ext cx="2254377" cy="40011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ja-JP" altLang="ja-JP" sz="2000" dirty="0"/>
              <a:t>艦内での活動</a:t>
            </a:r>
            <a:endParaRPr kumimoji="1" lang="ja-JP" altLang="en-US" sz="20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AD693A-CCAD-53E5-9054-C20E155BA587}"/>
              </a:ext>
            </a:extLst>
          </p:cNvPr>
          <p:cNvSpPr txBox="1"/>
          <p:nvPr/>
        </p:nvSpPr>
        <p:spPr>
          <a:xfrm>
            <a:off x="6593406" y="2366462"/>
            <a:ext cx="37631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ysClr val="windowText" lastClr="000000"/>
                </a:solidFill>
              </a:rPr>
              <a:t>・</a:t>
            </a:r>
            <a:r>
              <a:rPr lang="ja-JP" altLang="ja-JP" dirty="0">
                <a:solidFill>
                  <a:sysClr val="windowText" lastClr="000000"/>
                </a:solidFill>
              </a:rPr>
              <a:t>操舵席でのソナー確認</a:t>
            </a:r>
            <a:endParaRPr lang="en-US" altLang="ja-JP" dirty="0">
              <a:solidFill>
                <a:sysClr val="windowText" lastClr="000000"/>
              </a:solidFill>
            </a:endParaRPr>
          </a:p>
          <a:p>
            <a:r>
              <a:rPr lang="ja-JP" altLang="en-US" dirty="0">
                <a:solidFill>
                  <a:sysClr val="windowText" lastClr="000000"/>
                </a:solidFill>
              </a:rPr>
              <a:t>・</a:t>
            </a:r>
            <a:r>
              <a:rPr lang="ja-JP" altLang="ja-JP" dirty="0">
                <a:solidFill>
                  <a:sysClr val="windowText" lastClr="000000"/>
                </a:solidFill>
              </a:rPr>
              <a:t>目的地への移動</a:t>
            </a:r>
            <a:endParaRPr lang="en-US" altLang="ja-JP" dirty="0">
              <a:solidFill>
                <a:sysClr val="windowText" lastClr="000000"/>
              </a:solidFill>
            </a:endParaRPr>
          </a:p>
          <a:p>
            <a:r>
              <a:rPr lang="ja-JP" altLang="en-US" dirty="0">
                <a:solidFill>
                  <a:sysClr val="windowText" lastClr="000000"/>
                </a:solidFill>
              </a:rPr>
              <a:t>・</a:t>
            </a:r>
            <a:r>
              <a:rPr lang="ja-JP" altLang="ja-JP" dirty="0">
                <a:solidFill>
                  <a:sysClr val="windowText" lastClr="000000"/>
                </a:solidFill>
              </a:rPr>
              <a:t>外部からのアイテム回収・調査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C54091D-2A11-6426-9816-8E1F53ADD59F}"/>
              </a:ext>
            </a:extLst>
          </p:cNvPr>
          <p:cNvSpPr txBox="1"/>
          <p:nvPr/>
        </p:nvSpPr>
        <p:spPr>
          <a:xfrm>
            <a:off x="6593406" y="4614463"/>
            <a:ext cx="38610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ysClr val="windowText" lastClr="000000"/>
                </a:solidFill>
              </a:rPr>
              <a:t>・</a:t>
            </a:r>
            <a:r>
              <a:rPr lang="ja-JP" altLang="ja-JP" dirty="0">
                <a:solidFill>
                  <a:sysClr val="windowText" lastClr="000000"/>
                </a:solidFill>
              </a:rPr>
              <a:t>得たアイテムの合成</a:t>
            </a:r>
            <a:endParaRPr lang="en-US" altLang="ja-JP" dirty="0">
              <a:solidFill>
                <a:sysClr val="windowText" lastClr="000000"/>
              </a:solidFill>
            </a:endParaRPr>
          </a:p>
          <a:p>
            <a:r>
              <a:rPr lang="ja-JP" altLang="en-US" dirty="0">
                <a:solidFill>
                  <a:sysClr val="windowText" lastClr="000000"/>
                </a:solidFill>
              </a:rPr>
              <a:t>・</a:t>
            </a:r>
            <a:r>
              <a:rPr lang="ja-JP" altLang="ja-JP" dirty="0">
                <a:solidFill>
                  <a:sysClr val="windowText" lastClr="000000"/>
                </a:solidFill>
              </a:rPr>
              <a:t>ミッションへのアイテム提出</a:t>
            </a:r>
            <a:endParaRPr lang="en-US" altLang="ja-JP" dirty="0">
              <a:solidFill>
                <a:sysClr val="windowText" lastClr="000000"/>
              </a:solidFill>
            </a:endParaRPr>
          </a:p>
          <a:p>
            <a:r>
              <a:rPr lang="ja-JP" altLang="en-US" dirty="0">
                <a:solidFill>
                  <a:sysClr val="windowText" lastClr="000000"/>
                </a:solidFill>
              </a:rPr>
              <a:t>・</a:t>
            </a:r>
            <a:r>
              <a:rPr lang="ja-JP" altLang="ja-JP" dirty="0">
                <a:solidFill>
                  <a:sysClr val="windowText" lastClr="000000"/>
                </a:solidFill>
              </a:rPr>
              <a:t>潜水艦の強化・ロック解除</a:t>
            </a:r>
            <a:endParaRPr kumimoji="1" lang="ja-JP" altLang="en-US" dirty="0">
              <a:solidFill>
                <a:sysClr val="windowText" lastClr="000000"/>
              </a:solidFill>
            </a:endParaRPr>
          </a:p>
          <a:p>
            <a:r>
              <a:rPr lang="ja-JP" altLang="en-US" dirty="0">
                <a:solidFill>
                  <a:sysClr val="windowText" lastClr="000000"/>
                </a:solidFill>
              </a:rPr>
              <a:t>・</a:t>
            </a:r>
            <a:r>
              <a:rPr lang="ja-JP" altLang="ja-JP" dirty="0">
                <a:solidFill>
                  <a:sysClr val="windowText" lastClr="000000"/>
                </a:solidFill>
              </a:rPr>
              <a:t>艦内の探索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7EBE16E-50D1-B9F2-E9FB-FB2BEC68746E}"/>
              </a:ext>
            </a:extLst>
          </p:cNvPr>
          <p:cNvSpPr/>
          <p:nvPr/>
        </p:nvSpPr>
        <p:spPr>
          <a:xfrm>
            <a:off x="104393" y="6256816"/>
            <a:ext cx="11983214" cy="5628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CA301A6-4A4D-7A71-458B-57B264ED0DD3}"/>
              </a:ext>
            </a:extLst>
          </p:cNvPr>
          <p:cNvSpPr txBox="1"/>
          <p:nvPr/>
        </p:nvSpPr>
        <p:spPr>
          <a:xfrm>
            <a:off x="293298" y="6340415"/>
            <a:ext cx="11671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ja-JP" dirty="0">
                <a:solidFill>
                  <a:srgbClr val="FF0000"/>
                </a:solidFill>
              </a:rPr>
              <a:t>※上記の</a:t>
            </a:r>
            <a:r>
              <a:rPr lang="ja-JP" altLang="ja-JP" b="1" dirty="0">
                <a:solidFill>
                  <a:srgbClr val="FF0000"/>
                </a:solidFill>
              </a:rPr>
              <a:t>すべてのタイミング</a:t>
            </a:r>
            <a:r>
              <a:rPr lang="ja-JP" altLang="ja-JP" dirty="0">
                <a:solidFill>
                  <a:srgbClr val="FF0000"/>
                </a:solidFill>
              </a:rPr>
              <a:t>で、</a:t>
            </a:r>
            <a:r>
              <a:rPr lang="ja-JP" altLang="en-US" dirty="0">
                <a:solidFill>
                  <a:srgbClr val="FF0000"/>
                </a:solidFill>
              </a:rPr>
              <a:t>事件などの</a:t>
            </a:r>
            <a:r>
              <a:rPr lang="ja-JP" altLang="ja-JP" dirty="0">
                <a:solidFill>
                  <a:srgbClr val="FF0000"/>
                </a:solidFill>
              </a:rPr>
              <a:t>イベントが発生</a:t>
            </a:r>
            <a:r>
              <a:rPr lang="ja-JP" altLang="en-US" dirty="0">
                <a:solidFill>
                  <a:srgbClr val="FF0000"/>
                </a:solidFill>
              </a:rPr>
              <a:t>　→　話し合いや犯人探しに発展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3F0176-908C-A6F7-F01B-B76848D24050}"/>
              </a:ext>
            </a:extLst>
          </p:cNvPr>
          <p:cNvSpPr txBox="1"/>
          <p:nvPr/>
        </p:nvSpPr>
        <p:spPr>
          <a:xfrm>
            <a:off x="6673202" y="3640745"/>
            <a:ext cx="3579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自由に行き来可能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62F3746A-D256-890E-F20F-2640C26E9ADE}"/>
              </a:ext>
            </a:extLst>
          </p:cNvPr>
          <p:cNvSpPr/>
          <p:nvPr/>
        </p:nvSpPr>
        <p:spPr>
          <a:xfrm>
            <a:off x="6832121" y="3640745"/>
            <a:ext cx="502753" cy="49005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47AAAD2F-751E-A6C5-6118-B7DE12F4B0E4}"/>
              </a:ext>
            </a:extLst>
          </p:cNvPr>
          <p:cNvSpPr/>
          <p:nvPr/>
        </p:nvSpPr>
        <p:spPr>
          <a:xfrm rot="10800000">
            <a:off x="9909330" y="3620608"/>
            <a:ext cx="502753" cy="49005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Picture 9" descr="太陽のイラスト（黄）">
            <a:extLst>
              <a:ext uri="{FF2B5EF4-FFF2-40B4-BE49-F238E27FC236}">
                <a16:creationId xmlns:a16="http://schemas.microsoft.com/office/drawing/2014/main" id="{8606BDC8-0836-A792-1DD4-7BA92461E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6479"/>
            <a:ext cx="969634" cy="982737"/>
          </a:xfrm>
          <a:prstGeom prst="rect">
            <a:avLst/>
          </a:prstGeom>
        </p:spPr>
      </p:pic>
      <p:pic>
        <p:nvPicPr>
          <p:cNvPr id="12" name="Picture 11" descr="月の満ち欠けのイラスト1">
            <a:extLst>
              <a:ext uri="{FF2B5EF4-FFF2-40B4-BE49-F238E27FC236}">
                <a16:creationId xmlns:a16="http://schemas.microsoft.com/office/drawing/2014/main" id="{2C0A8D9B-314D-1329-C26C-8D0AEF8EFD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703" y="4686922"/>
            <a:ext cx="938411" cy="938411"/>
          </a:xfrm>
          <a:prstGeom prst="rect">
            <a:avLst/>
          </a:prstGeom>
        </p:spPr>
      </p:pic>
      <p:pic>
        <p:nvPicPr>
          <p:cNvPr id="16" name="Picture 15" descr="潜水艦のイラスト">
            <a:extLst>
              <a:ext uri="{FF2B5EF4-FFF2-40B4-BE49-F238E27FC236}">
                <a16:creationId xmlns:a16="http://schemas.microsoft.com/office/drawing/2014/main" id="{B644364A-8EBD-911C-2993-6D91DF8AA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1321" y="1938454"/>
            <a:ext cx="1522711" cy="1359020"/>
          </a:xfrm>
          <a:prstGeom prst="rect">
            <a:avLst/>
          </a:prstGeom>
        </p:spPr>
      </p:pic>
      <p:pic>
        <p:nvPicPr>
          <p:cNvPr id="17" name="Picture 16" descr="理科・化学の実験のイラスト">
            <a:extLst>
              <a:ext uri="{FF2B5EF4-FFF2-40B4-BE49-F238E27FC236}">
                <a16:creationId xmlns:a16="http://schemas.microsoft.com/office/drawing/2014/main" id="{5B342B2F-3F78-0707-9EDC-A88C39F4A4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3405" y="4703186"/>
            <a:ext cx="1027411" cy="1388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51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rrow: Right 15">
            <a:extLst>
              <a:ext uri="{FF2B5EF4-FFF2-40B4-BE49-F238E27FC236}">
                <a16:creationId xmlns:a16="http://schemas.microsoft.com/office/drawing/2014/main" id="{007CAB8D-53B9-CF64-08F4-0181F7BA542D}"/>
              </a:ext>
            </a:extLst>
          </p:cNvPr>
          <p:cNvSpPr/>
          <p:nvPr/>
        </p:nvSpPr>
        <p:spPr>
          <a:xfrm rot="20168341">
            <a:off x="2125766" y="2705509"/>
            <a:ext cx="1143000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2F2CC8-0DE7-DB6C-51BE-B37352B8B3C8}"/>
              </a:ext>
            </a:extLst>
          </p:cNvPr>
          <p:cNvSpPr/>
          <p:nvPr/>
        </p:nvSpPr>
        <p:spPr>
          <a:xfrm rot="1102158">
            <a:off x="2119435" y="1322217"/>
            <a:ext cx="1143000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1686B7-D46B-85F9-FA16-8F372CB2B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6718"/>
            <a:ext cx="10515600" cy="790814"/>
          </a:xfrm>
        </p:spPr>
        <p:txBody>
          <a:bodyPr>
            <a:normAutofit/>
          </a:bodyPr>
          <a:lstStyle/>
          <a:p>
            <a:pPr algn="ctr"/>
            <a:r>
              <a:rPr kumimoji="1" lang="ja-JP" altLang="en-US" sz="4000" u="sng" dirty="0">
                <a:latin typeface="游明朝" panose="02020400000000000000" pitchFamily="18" charset="-128"/>
                <a:ea typeface="游明朝" panose="02020400000000000000" pitchFamily="18" charset="-128"/>
              </a:rPr>
              <a:t>ゲーム画面：潜水艦操作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5A261FE-856D-6746-BC5D-6C94A1E4F6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80532" y="1124250"/>
            <a:ext cx="5630935" cy="310474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2A9421B-7446-2951-CE5F-7E2535F450A5}"/>
              </a:ext>
            </a:extLst>
          </p:cNvPr>
          <p:cNvSpPr/>
          <p:nvPr/>
        </p:nvSpPr>
        <p:spPr>
          <a:xfrm>
            <a:off x="97767" y="153462"/>
            <a:ext cx="2757576" cy="14769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EE2B53-1EC9-9C7D-E5B4-4EA3BA258C01}"/>
              </a:ext>
            </a:extLst>
          </p:cNvPr>
          <p:cNvSpPr/>
          <p:nvPr/>
        </p:nvSpPr>
        <p:spPr>
          <a:xfrm>
            <a:off x="97766" y="2074653"/>
            <a:ext cx="2757577" cy="15613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C4B51491-99B2-3915-BE1C-C79A8DDC9547}"/>
              </a:ext>
            </a:extLst>
          </p:cNvPr>
          <p:cNvSpPr/>
          <p:nvPr/>
        </p:nvSpPr>
        <p:spPr>
          <a:xfrm rot="19390066">
            <a:off x="1935644" y="3865762"/>
            <a:ext cx="3506234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EB07BF-4FCF-9EB7-E336-F55636AE3240}"/>
              </a:ext>
            </a:extLst>
          </p:cNvPr>
          <p:cNvSpPr/>
          <p:nvPr/>
        </p:nvSpPr>
        <p:spPr>
          <a:xfrm>
            <a:off x="97766" y="4027820"/>
            <a:ext cx="2757577" cy="24181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30571B2-F750-4743-A9D8-1B945466FD47}"/>
              </a:ext>
            </a:extLst>
          </p:cNvPr>
          <p:cNvSpPr/>
          <p:nvPr/>
        </p:nvSpPr>
        <p:spPr>
          <a:xfrm rot="19398435">
            <a:off x="7029340" y="4319024"/>
            <a:ext cx="1143000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56D85E7-392C-F377-4D6E-8E12E3CB25DF}"/>
              </a:ext>
            </a:extLst>
          </p:cNvPr>
          <p:cNvSpPr/>
          <p:nvPr/>
        </p:nvSpPr>
        <p:spPr>
          <a:xfrm rot="10800000">
            <a:off x="8732099" y="2458776"/>
            <a:ext cx="1575532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F19673-8770-1371-FF1B-8829D1ADB4A1}"/>
              </a:ext>
            </a:extLst>
          </p:cNvPr>
          <p:cNvSpPr/>
          <p:nvPr/>
        </p:nvSpPr>
        <p:spPr>
          <a:xfrm>
            <a:off x="9319696" y="2166668"/>
            <a:ext cx="2774537" cy="42872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805E0AA-85F8-5979-076D-0D1FA83B60B1}"/>
              </a:ext>
            </a:extLst>
          </p:cNvPr>
          <p:cNvSpPr/>
          <p:nvPr/>
        </p:nvSpPr>
        <p:spPr>
          <a:xfrm rot="8843608">
            <a:off x="8734981" y="697234"/>
            <a:ext cx="1575532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7E8B11-161F-AEDA-83DD-F2D5CAF1AC42}"/>
              </a:ext>
            </a:extLst>
          </p:cNvPr>
          <p:cNvSpPr/>
          <p:nvPr/>
        </p:nvSpPr>
        <p:spPr>
          <a:xfrm>
            <a:off x="9319697" y="166718"/>
            <a:ext cx="2774536" cy="15613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93EDF5-3751-9A84-F89C-76BE348AFFA8}"/>
              </a:ext>
            </a:extLst>
          </p:cNvPr>
          <p:cNvSpPr txBox="1"/>
          <p:nvPr/>
        </p:nvSpPr>
        <p:spPr>
          <a:xfrm>
            <a:off x="333503" y="87054"/>
            <a:ext cx="2254377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dirty="0"/>
              <a:t>引き受けたミッション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B5AE7C-2505-C907-A9F5-E10750436C9E}"/>
              </a:ext>
            </a:extLst>
          </p:cNvPr>
          <p:cNvSpPr txBox="1"/>
          <p:nvPr/>
        </p:nvSpPr>
        <p:spPr>
          <a:xfrm>
            <a:off x="97766" y="562125"/>
            <a:ext cx="27575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画面には常にミッションが表示されている。</a:t>
            </a:r>
            <a:endParaRPr kumimoji="1" lang="en-US" altLang="ja-JP" sz="1600" dirty="0"/>
          </a:p>
          <a:p>
            <a:r>
              <a:rPr kumimoji="1" lang="ja-JP" altLang="en-US" sz="1600" dirty="0"/>
              <a:t>どれがサブでどれがメインか一目瞭然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3F584-8649-D651-EC0C-2A53410F2DC9}"/>
              </a:ext>
            </a:extLst>
          </p:cNvPr>
          <p:cNvSpPr txBox="1"/>
          <p:nvPr/>
        </p:nvSpPr>
        <p:spPr>
          <a:xfrm>
            <a:off x="331137" y="1905376"/>
            <a:ext cx="2254377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dirty="0"/>
              <a:t>通知ログ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A3152A-7C9E-3B37-CC5B-E756B97753A4}"/>
              </a:ext>
            </a:extLst>
          </p:cNvPr>
          <p:cNvSpPr txBox="1"/>
          <p:nvPr/>
        </p:nvSpPr>
        <p:spPr>
          <a:xfrm>
            <a:off x="333503" y="2364835"/>
            <a:ext cx="23238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・アイテムの回収</a:t>
            </a:r>
            <a:endParaRPr kumimoji="1" lang="en-US" altLang="ja-JP" sz="1600" dirty="0"/>
          </a:p>
          <a:p>
            <a:r>
              <a:rPr kumimoji="1" lang="ja-JP" altLang="en-US" sz="1600" dirty="0"/>
              <a:t>・被ダメージ</a:t>
            </a:r>
            <a:endParaRPr kumimoji="1" lang="en-US" altLang="ja-JP" sz="1600" dirty="0"/>
          </a:p>
          <a:p>
            <a:r>
              <a:rPr kumimoji="1" lang="ja-JP" altLang="en-US" sz="1600" dirty="0"/>
              <a:t>・ミッションの更新</a:t>
            </a:r>
            <a:endParaRPr kumimoji="1" lang="en-US" altLang="ja-JP" sz="1600" dirty="0"/>
          </a:p>
          <a:p>
            <a:endParaRPr kumimoji="1" lang="en-US" altLang="ja-JP" sz="1600" dirty="0"/>
          </a:p>
          <a:p>
            <a:r>
              <a:rPr kumimoji="1" lang="ja-JP" altLang="en-US" sz="1600" dirty="0"/>
              <a:t>等の情報が通知される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646AC0-5CFC-A5E6-3D2B-59D9BCCEC716}"/>
              </a:ext>
            </a:extLst>
          </p:cNvPr>
          <p:cNvSpPr txBox="1"/>
          <p:nvPr/>
        </p:nvSpPr>
        <p:spPr>
          <a:xfrm>
            <a:off x="360506" y="3902067"/>
            <a:ext cx="2254377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dirty="0"/>
              <a:t>アクティブソナー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D1DC64-7A2E-0262-40C5-D92C3E731FB6}"/>
              </a:ext>
            </a:extLst>
          </p:cNvPr>
          <p:cNvSpPr txBox="1"/>
          <p:nvPr/>
        </p:nvSpPr>
        <p:spPr>
          <a:xfrm>
            <a:off x="236163" y="4391819"/>
            <a:ext cx="257096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白い円：ソナーの</a:t>
            </a:r>
            <a:r>
              <a:rPr lang="ja-JP" altLang="ja-JP" sz="1600" dirty="0"/>
              <a:t>波</a:t>
            </a:r>
            <a:endParaRPr lang="en-US" altLang="ja-JP" sz="1600" dirty="0"/>
          </a:p>
          <a:p>
            <a:r>
              <a:rPr kumimoji="1" lang="ja-JP" altLang="en-US" sz="1600" dirty="0"/>
              <a:t>　：敵性生物</a:t>
            </a:r>
            <a:endParaRPr kumimoji="1" lang="en-US" altLang="ja-JP" sz="1600" dirty="0"/>
          </a:p>
          <a:p>
            <a:r>
              <a:rPr kumimoji="1" lang="ja-JP" altLang="en-US" sz="1600" dirty="0">
                <a:solidFill>
                  <a:schemeClr val="accent5"/>
                </a:solidFill>
              </a:rPr>
              <a:t>　</a:t>
            </a:r>
            <a:r>
              <a:rPr kumimoji="1" lang="ja-JP" altLang="en-US" sz="1600" dirty="0"/>
              <a:t>：アイテム</a:t>
            </a:r>
            <a:endParaRPr kumimoji="1" lang="en-US" altLang="ja-JP" sz="1600" dirty="0"/>
          </a:p>
          <a:p>
            <a:r>
              <a:rPr kumimoji="1" lang="ja-JP" altLang="en-US" sz="1600" b="1" dirty="0"/>
              <a:t>　</a:t>
            </a:r>
            <a:r>
              <a:rPr kumimoji="1" lang="ja-JP" altLang="en-US" sz="1600" dirty="0"/>
              <a:t>：目的地点など</a:t>
            </a:r>
            <a:endParaRPr kumimoji="1" lang="en-US" altLang="ja-JP" sz="1600" dirty="0"/>
          </a:p>
          <a:p>
            <a:endParaRPr kumimoji="1" lang="en-US" altLang="ja-JP" sz="1600" dirty="0"/>
          </a:p>
          <a:p>
            <a:r>
              <a:rPr kumimoji="1" lang="ja-JP" altLang="en-US" sz="1600" dirty="0"/>
              <a:t>一度表示された後、再びソナーに映るまではどこに移動したかわからない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2089CA-F946-8712-9B08-1A6CF7A9973E}"/>
              </a:ext>
            </a:extLst>
          </p:cNvPr>
          <p:cNvSpPr txBox="1"/>
          <p:nvPr/>
        </p:nvSpPr>
        <p:spPr>
          <a:xfrm>
            <a:off x="9628658" y="87465"/>
            <a:ext cx="2254377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dirty="0"/>
              <a:t>現在のゲームフェーズ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FB3497-A53A-8CB7-D8FE-9EFE6F56DF2D}"/>
              </a:ext>
            </a:extLst>
          </p:cNvPr>
          <p:cNvSpPr txBox="1"/>
          <p:nvPr/>
        </p:nvSpPr>
        <p:spPr>
          <a:xfrm>
            <a:off x="9486470" y="562125"/>
            <a:ext cx="2254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ゲーム全体を通して常に今がなんのフェーズなのかを表示する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314938-4A1A-6C46-F674-F0B627EFE852}"/>
              </a:ext>
            </a:extLst>
          </p:cNvPr>
          <p:cNvSpPr txBox="1"/>
          <p:nvPr/>
        </p:nvSpPr>
        <p:spPr>
          <a:xfrm>
            <a:off x="9606486" y="2014825"/>
            <a:ext cx="2254377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dirty="0"/>
              <a:t>アイテムコンテナ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3CB927-0446-6988-6BBB-11828632E22A}"/>
              </a:ext>
            </a:extLst>
          </p:cNvPr>
          <p:cNvSpPr txBox="1"/>
          <p:nvPr/>
        </p:nvSpPr>
        <p:spPr>
          <a:xfrm>
            <a:off x="9319696" y="2458775"/>
            <a:ext cx="287230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400" dirty="0"/>
              <a:t>中身のわからない「コンテナ」</a:t>
            </a:r>
            <a:endParaRPr lang="en-US" altLang="ja-JP" sz="1400" dirty="0"/>
          </a:p>
          <a:p>
            <a:r>
              <a:rPr lang="ja-JP" altLang="ja-JP" sz="1400" dirty="0"/>
              <a:t> </a:t>
            </a:r>
            <a:endParaRPr lang="en-US" altLang="ja-JP" sz="1400" dirty="0"/>
          </a:p>
          <a:p>
            <a:r>
              <a:rPr lang="ja-JP" altLang="ja-JP" sz="1400" dirty="0"/>
              <a:t>外観から</a:t>
            </a:r>
            <a:r>
              <a:rPr lang="ja-JP" altLang="ja-JP" sz="1400" dirty="0">
                <a:solidFill>
                  <a:srgbClr val="FF0000"/>
                </a:solidFill>
              </a:rPr>
              <a:t>「何が入っているか？」</a:t>
            </a:r>
            <a:r>
              <a:rPr lang="ja-JP" altLang="ja-JP" sz="1400" dirty="0"/>
              <a:t>を想像するワクワク感を生み出</a:t>
            </a:r>
            <a:r>
              <a:rPr lang="ja-JP" altLang="en-US" sz="1400" dirty="0"/>
              <a:t>す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lang="ja-JP" altLang="ja-JP" sz="1400" dirty="0"/>
              <a:t>後で艦内</a:t>
            </a:r>
            <a:r>
              <a:rPr lang="ja-JP" altLang="en-US" sz="1400" dirty="0"/>
              <a:t>で</a:t>
            </a:r>
            <a:r>
              <a:rPr lang="ja-JP" altLang="ja-JP" sz="1400" dirty="0"/>
              <a:t>まとめて引き上げることで初めて中身が判明する。</a:t>
            </a:r>
            <a:endParaRPr kumimoji="1" lang="ja-JP" altLang="en-US" sz="1400" dirty="0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7F58A203-FFF5-3931-7F11-F25B488D50A2}"/>
              </a:ext>
            </a:extLst>
          </p:cNvPr>
          <p:cNvSpPr/>
          <p:nvPr/>
        </p:nvSpPr>
        <p:spPr>
          <a:xfrm rot="15037005">
            <a:off x="5606931" y="4518241"/>
            <a:ext cx="1143000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CB2B70-08CA-CA25-CE79-15168C03C12E}"/>
              </a:ext>
            </a:extLst>
          </p:cNvPr>
          <p:cNvSpPr/>
          <p:nvPr/>
        </p:nvSpPr>
        <p:spPr>
          <a:xfrm>
            <a:off x="4026411" y="4596343"/>
            <a:ext cx="4297774" cy="1837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D647F2-3F48-8BB4-CD06-DB2F0835A88F}"/>
              </a:ext>
            </a:extLst>
          </p:cNvPr>
          <p:cNvSpPr txBox="1"/>
          <p:nvPr/>
        </p:nvSpPr>
        <p:spPr>
          <a:xfrm>
            <a:off x="4140516" y="4467418"/>
            <a:ext cx="2570963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ja-JP" altLang="ja-JP" sz="1600" dirty="0"/>
              <a:t>SECTOR（現在地）とMap</a:t>
            </a:r>
            <a:endParaRPr kumimoji="1" lang="ja-JP" altLang="en-US" sz="16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AE5C44E9-4FB9-7A50-C253-C15F27918650}"/>
              </a:ext>
            </a:extLst>
          </p:cNvPr>
          <p:cNvSpPr/>
          <p:nvPr/>
        </p:nvSpPr>
        <p:spPr>
          <a:xfrm>
            <a:off x="10465120" y="2695997"/>
            <a:ext cx="336430" cy="223303"/>
          </a:xfrm>
          <a:prstGeom prst="downArrow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D86AED9F-B7B1-8C41-BE9A-B9C68010EA6B}"/>
              </a:ext>
            </a:extLst>
          </p:cNvPr>
          <p:cNvSpPr/>
          <p:nvPr/>
        </p:nvSpPr>
        <p:spPr>
          <a:xfrm>
            <a:off x="10445443" y="3348547"/>
            <a:ext cx="336430" cy="223303"/>
          </a:xfrm>
          <a:prstGeom prst="downArrow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C2E96D-F236-2E81-AD05-1DB1B1454677}"/>
              </a:ext>
            </a:extLst>
          </p:cNvPr>
          <p:cNvSpPr txBox="1"/>
          <p:nvPr/>
        </p:nvSpPr>
        <p:spPr>
          <a:xfrm>
            <a:off x="4140516" y="4918270"/>
            <a:ext cx="40456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dirty="0"/>
              <a:t>現在航行している海域を表示。</a:t>
            </a:r>
            <a:endParaRPr lang="en-US" altLang="ja-JP" sz="1600" dirty="0"/>
          </a:p>
          <a:p>
            <a:r>
              <a:rPr lang="ja-JP" altLang="ja-JP" sz="1600" dirty="0"/>
              <a:t>Mapボタンでさらに広域の情報を確認し、次の探索目標を立てる。</a:t>
            </a:r>
            <a:endParaRPr lang="en-US" altLang="ja-JP" sz="1600" dirty="0"/>
          </a:p>
          <a:p>
            <a:endParaRPr kumimoji="1" lang="en-US" altLang="ja-JP" sz="1600" dirty="0"/>
          </a:p>
          <a:p>
            <a:r>
              <a:rPr kumimoji="1" lang="ja-JP" altLang="en-US" sz="1600" dirty="0"/>
              <a:t>全域マップでは好きに線を引くことができ、</a:t>
            </a:r>
            <a:r>
              <a:rPr kumimoji="1" lang="ja-JP" altLang="en-US" sz="1600" dirty="0">
                <a:solidFill>
                  <a:srgbClr val="FF0000"/>
                </a:solidFill>
              </a:rPr>
              <a:t>先んじて計画を立てることもできる。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652781-BA27-602A-7DA5-3E9C872FA1FF}"/>
              </a:ext>
            </a:extLst>
          </p:cNvPr>
          <p:cNvSpPr txBox="1"/>
          <p:nvPr/>
        </p:nvSpPr>
        <p:spPr>
          <a:xfrm>
            <a:off x="9365398" y="4685746"/>
            <a:ext cx="277453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400" dirty="0"/>
              <a:t>物理演算に従って、コンテナが上からゴトゴトと貯まっていく。</a:t>
            </a:r>
            <a:endParaRPr lang="en-US" altLang="ja-JP" sz="1400" dirty="0"/>
          </a:p>
          <a:p>
            <a:endParaRPr lang="ja-JP" altLang="ja-JP" sz="1400" dirty="0"/>
          </a:p>
          <a:p>
            <a:r>
              <a:rPr lang="ja-JP" altLang="ja-JP" sz="1400" dirty="0"/>
              <a:t>満タンになると、一度艦内へ引き上げに戻らなければならない。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lang="ja-JP" altLang="ja-JP" sz="1400" dirty="0"/>
              <a:t>コンテナが積み上がっていく様子を直接視認できる。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8EA2F9-237C-C191-2BA9-0F667504B12F}"/>
              </a:ext>
            </a:extLst>
          </p:cNvPr>
          <p:cNvSpPr txBox="1"/>
          <p:nvPr/>
        </p:nvSpPr>
        <p:spPr>
          <a:xfrm>
            <a:off x="9502788" y="4228998"/>
            <a:ext cx="2469367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ja-JP" altLang="ja-JP" sz="1600" dirty="0"/>
              <a:t>物理スタックと視覚演出</a:t>
            </a:r>
            <a:endParaRPr kumimoji="1" lang="ja-JP" altLang="en-US" sz="1600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D0D54B-C789-C654-A7CB-C31CB67B5664}"/>
              </a:ext>
            </a:extLst>
          </p:cNvPr>
          <p:cNvSpPr/>
          <p:nvPr/>
        </p:nvSpPr>
        <p:spPr>
          <a:xfrm>
            <a:off x="316001" y="4642629"/>
            <a:ext cx="234874" cy="24045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C7CFC32-EF7A-6E3E-6503-0EDB000FF926}"/>
              </a:ext>
            </a:extLst>
          </p:cNvPr>
          <p:cNvSpPr/>
          <p:nvPr/>
        </p:nvSpPr>
        <p:spPr>
          <a:xfrm>
            <a:off x="316001" y="4914053"/>
            <a:ext cx="234874" cy="24045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150DA-99D0-8DB7-5C1E-7F9D167EA696}"/>
              </a:ext>
            </a:extLst>
          </p:cNvPr>
          <p:cNvSpPr/>
          <p:nvPr/>
        </p:nvSpPr>
        <p:spPr>
          <a:xfrm>
            <a:off x="331137" y="5186470"/>
            <a:ext cx="234874" cy="24045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1277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59655-14C7-9E17-E89B-890C37070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66F56A0-6FF5-2A01-D5FB-6FFC8A101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079" y="1110565"/>
            <a:ext cx="4818191" cy="2696419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8A597351-602F-24DA-D2F6-32C0AE655DD5}"/>
              </a:ext>
            </a:extLst>
          </p:cNvPr>
          <p:cNvSpPr/>
          <p:nvPr/>
        </p:nvSpPr>
        <p:spPr>
          <a:xfrm rot="20168341">
            <a:off x="2058665" y="2884781"/>
            <a:ext cx="1921781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3DFC9D79-B4AE-9D85-50DB-A7D0FFD2047B}"/>
              </a:ext>
            </a:extLst>
          </p:cNvPr>
          <p:cNvSpPr/>
          <p:nvPr/>
        </p:nvSpPr>
        <p:spPr>
          <a:xfrm rot="709748">
            <a:off x="2400427" y="1065836"/>
            <a:ext cx="1225955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700255-4D5B-FABD-7604-C3B6206B4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6718"/>
            <a:ext cx="10515600" cy="790814"/>
          </a:xfrm>
        </p:spPr>
        <p:txBody>
          <a:bodyPr>
            <a:normAutofit/>
          </a:bodyPr>
          <a:lstStyle/>
          <a:p>
            <a:pPr algn="ctr"/>
            <a:r>
              <a:rPr kumimoji="1" lang="ja-JP" altLang="en-US" sz="4000" u="sng" dirty="0">
                <a:latin typeface="游明朝" panose="02020400000000000000" pitchFamily="18" charset="-128"/>
                <a:ea typeface="游明朝" panose="02020400000000000000" pitchFamily="18" charset="-128"/>
              </a:rPr>
              <a:t>ゲーム画面：対話フェーズ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B9ECA6-4D66-E2EC-BC8F-4D7F7A378ED1}"/>
              </a:ext>
            </a:extLst>
          </p:cNvPr>
          <p:cNvSpPr/>
          <p:nvPr/>
        </p:nvSpPr>
        <p:spPr>
          <a:xfrm>
            <a:off x="97767" y="153462"/>
            <a:ext cx="2757576" cy="19975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96B8F3-F0B0-9C3E-2EA5-3A5F6DCCECDD}"/>
              </a:ext>
            </a:extLst>
          </p:cNvPr>
          <p:cNvSpPr/>
          <p:nvPr/>
        </p:nvSpPr>
        <p:spPr>
          <a:xfrm>
            <a:off x="63947" y="2411441"/>
            <a:ext cx="2757577" cy="4359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32A8DB20-82F0-F8E4-73AE-2A5594B74D88}"/>
              </a:ext>
            </a:extLst>
          </p:cNvPr>
          <p:cNvSpPr/>
          <p:nvPr/>
        </p:nvSpPr>
        <p:spPr>
          <a:xfrm rot="17613567">
            <a:off x="3865615" y="3907474"/>
            <a:ext cx="1143000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A6C4C40-671B-7A67-F530-C0D11AE16E77}"/>
              </a:ext>
            </a:extLst>
          </p:cNvPr>
          <p:cNvSpPr/>
          <p:nvPr/>
        </p:nvSpPr>
        <p:spPr>
          <a:xfrm rot="10800000">
            <a:off x="8732099" y="2458776"/>
            <a:ext cx="1575532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8E202B-0044-906F-1A43-CB0801A81925}"/>
              </a:ext>
            </a:extLst>
          </p:cNvPr>
          <p:cNvSpPr/>
          <p:nvPr/>
        </p:nvSpPr>
        <p:spPr>
          <a:xfrm>
            <a:off x="9341868" y="2198812"/>
            <a:ext cx="2774537" cy="22096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8F02E0-508E-3140-12CB-D9D6A2C611BC}"/>
              </a:ext>
            </a:extLst>
          </p:cNvPr>
          <p:cNvSpPr txBox="1"/>
          <p:nvPr/>
        </p:nvSpPr>
        <p:spPr>
          <a:xfrm>
            <a:off x="236163" y="87054"/>
            <a:ext cx="2421235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dirty="0"/>
              <a:t>いつでも開けるメニュー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2ACA45-35EF-3B3F-6947-94CD9439F473}"/>
              </a:ext>
            </a:extLst>
          </p:cNvPr>
          <p:cNvSpPr txBox="1"/>
          <p:nvPr/>
        </p:nvSpPr>
        <p:spPr>
          <a:xfrm>
            <a:off x="97766" y="562125"/>
            <a:ext cx="275757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会話中、いつでもメニューを開くことができる。</a:t>
            </a:r>
            <a:endParaRPr kumimoji="1" lang="en-US" altLang="ja-JP" sz="1600" dirty="0"/>
          </a:p>
          <a:p>
            <a:endParaRPr kumimoji="1" lang="en-US" altLang="ja-JP" sz="1600" dirty="0"/>
          </a:p>
          <a:p>
            <a:pPr algn="ctr"/>
            <a:r>
              <a:rPr kumimoji="1" lang="ja-JP" altLang="en-US" sz="1600" dirty="0"/>
              <a:t>集めた証拠品の確認</a:t>
            </a:r>
            <a:endParaRPr kumimoji="1" lang="en-US" altLang="ja-JP" sz="1600" dirty="0"/>
          </a:p>
          <a:p>
            <a:endParaRPr kumimoji="1" lang="en-US" altLang="ja-JP" sz="1600" dirty="0"/>
          </a:p>
          <a:p>
            <a:pPr algn="ctr"/>
            <a:r>
              <a:rPr lang="ja-JP" altLang="ja-JP" sz="1600" b="1" dirty="0"/>
              <a:t>会話の矛盾を突く</a:t>
            </a:r>
            <a:endParaRPr kumimoji="1" lang="ja-JP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F4E884-06C3-C3D2-07DC-64B9CF87F3BA}"/>
              </a:ext>
            </a:extLst>
          </p:cNvPr>
          <p:cNvSpPr txBox="1"/>
          <p:nvPr/>
        </p:nvSpPr>
        <p:spPr>
          <a:xfrm>
            <a:off x="297318" y="2242164"/>
            <a:ext cx="2254377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dirty="0"/>
              <a:t>心電図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4D45F2-E2DE-7CF0-1CEE-A926E8EF0E4B}"/>
              </a:ext>
            </a:extLst>
          </p:cNvPr>
          <p:cNvSpPr txBox="1"/>
          <p:nvPr/>
        </p:nvSpPr>
        <p:spPr>
          <a:xfrm>
            <a:off x="138762" y="2701623"/>
            <a:ext cx="26478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主人公たちは未知の生命体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85DEF7-9873-136A-E385-39606013397B}"/>
              </a:ext>
            </a:extLst>
          </p:cNvPr>
          <p:cNvSpPr txBox="1"/>
          <p:nvPr/>
        </p:nvSpPr>
        <p:spPr>
          <a:xfrm>
            <a:off x="9628658" y="2115659"/>
            <a:ext cx="2254377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dirty="0"/>
              <a:t>会話の選択肢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000FFA-5068-C867-C1C9-5716BCE8C674}"/>
              </a:ext>
            </a:extLst>
          </p:cNvPr>
          <p:cNvSpPr txBox="1"/>
          <p:nvPr/>
        </p:nvSpPr>
        <p:spPr>
          <a:xfrm>
            <a:off x="9341867" y="2510544"/>
            <a:ext cx="287230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プレイヤーが選ぶことのできる会話の選択肢</a:t>
            </a:r>
            <a:endParaRPr kumimoji="1" lang="en-US" altLang="ja-JP" sz="1400" dirty="0"/>
          </a:p>
          <a:p>
            <a:endParaRPr kumimoji="1" lang="en-US" altLang="ja-JP" sz="1400" dirty="0"/>
          </a:p>
          <a:p>
            <a:r>
              <a:rPr kumimoji="1" lang="ja-JP" altLang="en-US" sz="1400" dirty="0"/>
              <a:t>アンロックが必要な選択肢もある</a:t>
            </a:r>
            <a:endParaRPr kumimoji="1" lang="en-US" altLang="ja-JP" sz="1400" dirty="0"/>
          </a:p>
          <a:p>
            <a:endParaRPr kumimoji="1" lang="en-US" altLang="ja-JP" sz="1400" dirty="0"/>
          </a:p>
          <a:p>
            <a:r>
              <a:rPr kumimoji="1" lang="ja-JP" altLang="en-US" sz="1400" dirty="0"/>
              <a:t>アンロック条件の例</a:t>
            </a:r>
            <a:endParaRPr kumimoji="1" lang="en-US" altLang="ja-JP" sz="1400" dirty="0"/>
          </a:p>
          <a:p>
            <a:r>
              <a:rPr kumimoji="1" lang="ja-JP" altLang="en-US" sz="1400" dirty="0"/>
              <a:t>・証拠品の所持</a:t>
            </a:r>
            <a:endParaRPr kumimoji="1" lang="en-US" altLang="ja-JP" sz="1400" dirty="0"/>
          </a:p>
          <a:p>
            <a:r>
              <a:rPr kumimoji="1" lang="ja-JP" altLang="en-US" sz="1400" dirty="0"/>
              <a:t>・サブクエストの進捗</a:t>
            </a:r>
            <a:endParaRPr kumimoji="1" lang="en-US" altLang="ja-JP" sz="1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811D9A-951A-CD4B-4435-5D4148490528}"/>
              </a:ext>
            </a:extLst>
          </p:cNvPr>
          <p:cNvSpPr/>
          <p:nvPr/>
        </p:nvSpPr>
        <p:spPr>
          <a:xfrm>
            <a:off x="3018628" y="4616496"/>
            <a:ext cx="2027826" cy="1837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A6983E-A0C3-5959-43B8-E2981537DD83}"/>
              </a:ext>
            </a:extLst>
          </p:cNvPr>
          <p:cNvSpPr txBox="1"/>
          <p:nvPr/>
        </p:nvSpPr>
        <p:spPr>
          <a:xfrm>
            <a:off x="3160158" y="4489340"/>
            <a:ext cx="1744766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/>
              <a:t>会話ウィンドウ</a:t>
            </a:r>
            <a:endParaRPr kumimoji="1" lang="ja-JP" altLang="en-US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CCFBFE-A7B2-1B7D-8A56-9A2B6B6B8F10}"/>
              </a:ext>
            </a:extLst>
          </p:cNvPr>
          <p:cNvSpPr txBox="1"/>
          <p:nvPr/>
        </p:nvSpPr>
        <p:spPr>
          <a:xfrm>
            <a:off x="3150770" y="4863139"/>
            <a:ext cx="18956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・キャラクター名</a:t>
            </a:r>
            <a:endParaRPr kumimoji="1" lang="en-US" altLang="ja-JP" sz="1600" dirty="0"/>
          </a:p>
          <a:p>
            <a:r>
              <a:rPr kumimoji="1" lang="ja-JP" altLang="en-US" sz="1600" dirty="0"/>
              <a:t>・会話内容</a:t>
            </a:r>
            <a:endParaRPr kumimoji="1" lang="en-US" altLang="ja-JP" sz="1600" dirty="0"/>
          </a:p>
          <a:p>
            <a:endParaRPr kumimoji="1" lang="en-US" altLang="ja-JP" sz="1600" dirty="0"/>
          </a:p>
          <a:p>
            <a:r>
              <a:rPr kumimoji="1" lang="ja-JP" altLang="en-US" sz="1600" dirty="0"/>
              <a:t>が表示される</a:t>
            </a:r>
          </a:p>
        </p:txBody>
      </p:sp>
      <p:pic>
        <p:nvPicPr>
          <p:cNvPr id="11" name="Picture 10" descr="心電図のイラスト">
            <a:extLst>
              <a:ext uri="{FF2B5EF4-FFF2-40B4-BE49-F238E27FC236}">
                <a16:creationId xmlns:a16="http://schemas.microsoft.com/office/drawing/2014/main" id="{F24E1268-B22D-96BB-DAF3-FDCC5BC13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877" y="1821249"/>
            <a:ext cx="968076" cy="958395"/>
          </a:xfrm>
          <a:prstGeom prst="rect">
            <a:avLst/>
          </a:prstGeom>
        </p:spPr>
      </p:pic>
      <p:sp>
        <p:nvSpPr>
          <p:cNvPr id="12" name="Arrow: Down 11">
            <a:extLst>
              <a:ext uri="{FF2B5EF4-FFF2-40B4-BE49-F238E27FC236}">
                <a16:creationId xmlns:a16="http://schemas.microsoft.com/office/drawing/2014/main" id="{36B79439-0A7D-6E24-5C5D-CFD774FF3668}"/>
              </a:ext>
            </a:extLst>
          </p:cNvPr>
          <p:cNvSpPr/>
          <p:nvPr/>
        </p:nvSpPr>
        <p:spPr>
          <a:xfrm>
            <a:off x="1221590" y="3122762"/>
            <a:ext cx="433404" cy="225785"/>
          </a:xfrm>
          <a:prstGeom prst="downArrow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2A80D9-A86E-6672-CED5-6BEBB9C72CF9}"/>
              </a:ext>
            </a:extLst>
          </p:cNvPr>
          <p:cNvSpPr txBox="1"/>
          <p:nvPr/>
        </p:nvSpPr>
        <p:spPr>
          <a:xfrm>
            <a:off x="138762" y="3345405"/>
            <a:ext cx="264789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共鳴することで心拍数がわかる。</a:t>
            </a:r>
            <a:endParaRPr kumimoji="1" lang="en-US" altLang="ja-JP" sz="1600" dirty="0"/>
          </a:p>
          <a:p>
            <a:r>
              <a:rPr kumimoji="1" lang="ja-JP" altLang="en-US" sz="1200" dirty="0"/>
              <a:t>（ゲームの仕様でないと気づくのはゲーム後半）</a:t>
            </a:r>
            <a:endParaRPr kumimoji="1" lang="en-US" altLang="ja-JP" sz="1200" dirty="0"/>
          </a:p>
          <a:p>
            <a:endParaRPr kumimoji="1" lang="en-US" altLang="ja-JP" sz="1600" dirty="0"/>
          </a:p>
          <a:p>
            <a:r>
              <a:rPr kumimoji="1" lang="ja-JP" altLang="en-US" sz="1600" b="1" dirty="0"/>
              <a:t>心拍数が高い</a:t>
            </a:r>
            <a:endParaRPr kumimoji="1" lang="en-US" altLang="ja-JP" sz="1600" b="1" dirty="0"/>
          </a:p>
          <a:p>
            <a:r>
              <a:rPr kumimoji="1" lang="ja-JP" altLang="en-US" sz="1600" dirty="0"/>
              <a:t>・嘘をついている</a:t>
            </a:r>
            <a:endParaRPr kumimoji="1" lang="en-US" altLang="ja-JP" sz="1600" dirty="0"/>
          </a:p>
          <a:p>
            <a:r>
              <a:rPr kumimoji="1" lang="ja-JP" altLang="en-US" sz="1600" dirty="0"/>
              <a:t>・激しい動きをしていた</a:t>
            </a:r>
            <a:endParaRPr kumimoji="1" lang="en-US" altLang="ja-JP" sz="1600" dirty="0"/>
          </a:p>
          <a:p>
            <a:endParaRPr kumimoji="1" lang="en-US" altLang="ja-JP" sz="1600" dirty="0"/>
          </a:p>
          <a:p>
            <a:r>
              <a:rPr kumimoji="1" lang="ja-JP" altLang="en-US" sz="1600" b="1" dirty="0"/>
              <a:t>心拍数が低い</a:t>
            </a:r>
            <a:endParaRPr kumimoji="1" lang="en-US" altLang="ja-JP" sz="1600" b="1" dirty="0"/>
          </a:p>
          <a:p>
            <a:r>
              <a:rPr kumimoji="1" lang="ja-JP" altLang="en-US" sz="1600" dirty="0"/>
              <a:t>・落ち着いている</a:t>
            </a:r>
            <a:endParaRPr kumimoji="1" lang="en-US" altLang="ja-JP" sz="1600" dirty="0"/>
          </a:p>
          <a:p>
            <a:r>
              <a:rPr kumimoji="1" lang="ja-JP" altLang="en-US" sz="1600" dirty="0"/>
              <a:t>・自分の犯行に自身がある</a:t>
            </a:r>
            <a:endParaRPr kumimoji="1" lang="en-US" altLang="ja-JP" sz="1600" dirty="0"/>
          </a:p>
          <a:p>
            <a:r>
              <a:rPr kumimoji="1" lang="ja-JP" altLang="en-US" sz="1600" dirty="0"/>
              <a:t>・そもそも感情の起伏が乏　　</a:t>
            </a:r>
            <a:endParaRPr kumimoji="1" lang="en-US" altLang="ja-JP" sz="1600" dirty="0"/>
          </a:p>
          <a:p>
            <a:r>
              <a:rPr kumimoji="1" lang="ja-JP" altLang="en-US" sz="1600" dirty="0"/>
              <a:t>　しいキャラクター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390254-C203-2989-D1EB-589D09E0353B}"/>
              </a:ext>
            </a:extLst>
          </p:cNvPr>
          <p:cNvSpPr/>
          <p:nvPr/>
        </p:nvSpPr>
        <p:spPr>
          <a:xfrm>
            <a:off x="6633713" y="1788129"/>
            <a:ext cx="1207698" cy="10968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1BD2FB-C163-FA9E-9F3A-EE3B394AB8CD}"/>
              </a:ext>
            </a:extLst>
          </p:cNvPr>
          <p:cNvSpPr/>
          <p:nvPr/>
        </p:nvSpPr>
        <p:spPr>
          <a:xfrm>
            <a:off x="6631200" y="1781077"/>
            <a:ext cx="968076" cy="116734"/>
          </a:xfrm>
          <a:prstGeom prst="rect">
            <a:avLst/>
          </a:prstGeom>
          <a:solidFill>
            <a:schemeClr val="bg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878FA9CA-0E8D-24C3-7EEB-FCBE7EC779A4}"/>
              </a:ext>
            </a:extLst>
          </p:cNvPr>
          <p:cNvSpPr/>
          <p:nvPr/>
        </p:nvSpPr>
        <p:spPr>
          <a:xfrm rot="8955702">
            <a:off x="7798260" y="971207"/>
            <a:ext cx="2592385" cy="2996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B8DA981-7B4F-B7FC-6DBE-B29B577915DC}"/>
              </a:ext>
            </a:extLst>
          </p:cNvPr>
          <p:cNvSpPr/>
          <p:nvPr/>
        </p:nvSpPr>
        <p:spPr>
          <a:xfrm>
            <a:off x="9319697" y="166718"/>
            <a:ext cx="2774536" cy="1880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5FC2AD-76F9-7743-D165-BD5E504A1969}"/>
              </a:ext>
            </a:extLst>
          </p:cNvPr>
          <p:cNvSpPr txBox="1"/>
          <p:nvPr/>
        </p:nvSpPr>
        <p:spPr>
          <a:xfrm>
            <a:off x="9628658" y="87465"/>
            <a:ext cx="2254377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dirty="0"/>
              <a:t>選択肢の時間制限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A39669-3BEE-951E-9897-06CE0F1BF402}"/>
              </a:ext>
            </a:extLst>
          </p:cNvPr>
          <p:cNvSpPr txBox="1"/>
          <p:nvPr/>
        </p:nvSpPr>
        <p:spPr>
          <a:xfrm>
            <a:off x="9341867" y="425608"/>
            <a:ext cx="275924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400" dirty="0"/>
              <a:t>相手からの追及や決断を迫られる場面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lang="ja-JP" altLang="ja-JP" sz="1400" dirty="0"/>
              <a:t>リアルタイムに減少するゲージが出現</a:t>
            </a:r>
            <a:endParaRPr lang="en-US" altLang="ja-JP" sz="1400" dirty="0"/>
          </a:p>
          <a:p>
            <a:endParaRPr lang="en-US" altLang="ja-JP" sz="1400" dirty="0"/>
          </a:p>
          <a:p>
            <a:r>
              <a:rPr kumimoji="1" lang="ja-JP" altLang="en-US" sz="1400" dirty="0"/>
              <a:t>メニューを開いても時間は経過</a:t>
            </a:r>
          </a:p>
        </p:txBody>
      </p:sp>
      <p:sp>
        <p:nvSpPr>
          <p:cNvPr id="45" name="Arrow: Down 44">
            <a:extLst>
              <a:ext uri="{FF2B5EF4-FFF2-40B4-BE49-F238E27FC236}">
                <a16:creationId xmlns:a16="http://schemas.microsoft.com/office/drawing/2014/main" id="{50649BFF-76C6-10BB-4E63-9670ABFE7EFB}"/>
              </a:ext>
            </a:extLst>
          </p:cNvPr>
          <p:cNvSpPr/>
          <p:nvPr/>
        </p:nvSpPr>
        <p:spPr>
          <a:xfrm>
            <a:off x="10453760" y="830468"/>
            <a:ext cx="433404" cy="225785"/>
          </a:xfrm>
          <a:prstGeom prst="downArrow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412353-5DF4-5403-7958-A9333D312319}"/>
              </a:ext>
            </a:extLst>
          </p:cNvPr>
          <p:cNvSpPr/>
          <p:nvPr/>
        </p:nvSpPr>
        <p:spPr>
          <a:xfrm>
            <a:off x="5187984" y="4616496"/>
            <a:ext cx="6767854" cy="1837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047337-1BCF-3976-C3EB-EF21243EE2E1}"/>
              </a:ext>
            </a:extLst>
          </p:cNvPr>
          <p:cNvSpPr txBox="1"/>
          <p:nvPr/>
        </p:nvSpPr>
        <p:spPr>
          <a:xfrm>
            <a:off x="5332186" y="4486979"/>
            <a:ext cx="3214711" cy="33855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/>
              <a:t>プレイヤーだけが抱ける違和感</a:t>
            </a:r>
            <a:endParaRPr kumimoji="1" lang="ja-JP" altLang="en-US" sz="1600" dirty="0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7529EDA2-C108-5EA4-A732-D0BC0EEC040F}"/>
              </a:ext>
            </a:extLst>
          </p:cNvPr>
          <p:cNvSpPr/>
          <p:nvPr/>
        </p:nvSpPr>
        <p:spPr>
          <a:xfrm>
            <a:off x="1194433" y="1585484"/>
            <a:ext cx="433404" cy="225785"/>
          </a:xfrm>
          <a:prstGeom prst="downArrow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26598E4-0F27-6182-AB2A-157BAA855CDB}"/>
              </a:ext>
            </a:extLst>
          </p:cNvPr>
          <p:cNvSpPr txBox="1"/>
          <p:nvPr/>
        </p:nvSpPr>
        <p:spPr>
          <a:xfrm>
            <a:off x="5332185" y="4863139"/>
            <a:ext cx="655084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dirty="0"/>
              <a:t>ゲーム内のキャラクター（主人公含む）は全く疑問に思わないが、プレイヤーだけが画面越しに気づける「メタ的な違和感」が存在する。</a:t>
            </a:r>
            <a:endParaRPr lang="en-US" altLang="ja-JP" sz="1600" dirty="0"/>
          </a:p>
          <a:p>
            <a:r>
              <a:rPr lang="ja-JP" altLang="ja-JP" sz="1600" dirty="0"/>
              <a:t>（例：流れた血の色が「赤」ではない、など）</a:t>
            </a:r>
            <a:endParaRPr lang="en-US" altLang="ja-JP" sz="1600" dirty="0"/>
          </a:p>
          <a:p>
            <a:endParaRPr kumimoji="1" lang="en-US" altLang="ja-JP" sz="1600" dirty="0"/>
          </a:p>
          <a:p>
            <a:r>
              <a:rPr lang="ja-JP" altLang="ja-JP" sz="1600" dirty="0">
                <a:solidFill>
                  <a:srgbClr val="FF0000"/>
                </a:solidFill>
              </a:rPr>
              <a:t>心電図のデータや証拠品だけでは辿り着けない「</a:t>
            </a:r>
            <a:r>
              <a:rPr lang="ja-JP" altLang="en-US" sz="1600" dirty="0">
                <a:solidFill>
                  <a:srgbClr val="FF0000"/>
                </a:solidFill>
              </a:rPr>
              <a:t>真実</a:t>
            </a:r>
            <a:r>
              <a:rPr lang="ja-JP" altLang="ja-JP" sz="1600" dirty="0">
                <a:solidFill>
                  <a:srgbClr val="FF0000"/>
                </a:solidFill>
              </a:rPr>
              <a:t>」</a:t>
            </a:r>
            <a:r>
              <a:rPr lang="ja-JP" altLang="en-US" sz="1600" dirty="0"/>
              <a:t>への鍵となる</a:t>
            </a:r>
            <a:endParaRPr kumimoji="1"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30088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49AC7CF-DACB-6342-CAFE-1CC5541FF1CD}"/>
              </a:ext>
            </a:extLst>
          </p:cNvPr>
          <p:cNvSpPr/>
          <p:nvPr/>
        </p:nvSpPr>
        <p:spPr>
          <a:xfrm>
            <a:off x="293298" y="175345"/>
            <a:ext cx="11602528" cy="6751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E9F30-FBE2-C9AA-2246-864C10EDA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345"/>
            <a:ext cx="10515600" cy="825320"/>
          </a:xfrm>
        </p:spPr>
        <p:txBody>
          <a:bodyPr>
            <a:normAutofit/>
          </a:bodyPr>
          <a:lstStyle/>
          <a:p>
            <a:pPr algn="ctr"/>
            <a:r>
              <a:rPr lang="ja-JP" altLang="ja-JP" sz="4400" u="sng" dirty="0">
                <a:solidFill>
                  <a:schemeClr val="bg1"/>
                </a:solidFill>
                <a:latin typeface="游明朝" panose="02020400000000000000" pitchFamily="18" charset="-128"/>
                <a:ea typeface="游明朝" panose="02020400000000000000" pitchFamily="18" charset="-128"/>
              </a:rPr>
              <a:t>クレイドル・プロトコル</a:t>
            </a:r>
            <a:r>
              <a:rPr lang="ja-JP" altLang="en-US" sz="4400" u="sng" dirty="0">
                <a:solidFill>
                  <a:schemeClr val="bg1"/>
                </a:solidFill>
                <a:latin typeface="游明朝" panose="02020400000000000000" pitchFamily="18" charset="-128"/>
                <a:ea typeface="游明朝" panose="02020400000000000000" pitchFamily="18" charset="-128"/>
              </a:rPr>
              <a:t>：参加者リスト</a:t>
            </a:r>
            <a:endParaRPr kumimoji="1" lang="ja-JP" altLang="en-US" sz="4400" u="sng" dirty="0">
              <a:solidFill>
                <a:schemeClr val="bg1"/>
              </a:solidFill>
              <a:latin typeface="游明朝" panose="02020400000000000000" pitchFamily="18" charset="-128"/>
              <a:ea typeface="游明朝" panose="02020400000000000000" pitchFamily="18" charset="-128"/>
            </a:endParaRPr>
          </a:p>
        </p:txBody>
      </p:sp>
      <p:pic>
        <p:nvPicPr>
          <p:cNvPr id="6" name="Picture 5" descr="資料・書類の入った封筒のイラスト">
            <a:extLst>
              <a:ext uri="{FF2B5EF4-FFF2-40B4-BE49-F238E27FC236}">
                <a16:creationId xmlns:a16="http://schemas.microsoft.com/office/drawing/2014/main" id="{6C86EDB8-5607-F5E9-5E1E-804B2F3BF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7463" y="3684724"/>
            <a:ext cx="3524250" cy="381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B977A7-450E-1095-03FA-86F32CEF6C1A}"/>
              </a:ext>
            </a:extLst>
          </p:cNvPr>
          <p:cNvSpPr txBox="1"/>
          <p:nvPr/>
        </p:nvSpPr>
        <p:spPr>
          <a:xfrm>
            <a:off x="471129" y="3039042"/>
            <a:ext cx="1013936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b="1" dirty="0">
                <a:solidFill>
                  <a:schemeClr val="bg1"/>
                </a:solidFill>
              </a:rPr>
              <a:t>検体番号01：東雲 柚葉（しののめ ゆずは） </a:t>
            </a:r>
            <a:endParaRPr lang="en-US" altLang="ja-JP" b="1" dirty="0">
              <a:solidFill>
                <a:schemeClr val="bg1"/>
              </a:solidFill>
            </a:endParaRPr>
          </a:p>
          <a:p>
            <a:r>
              <a:rPr lang="ja-JP" altLang="ja-JP" b="1" dirty="0">
                <a:solidFill>
                  <a:schemeClr val="bg1"/>
                </a:solidFill>
              </a:rPr>
              <a:t>【開示記録】自認：17歳 / 高校生</a:t>
            </a:r>
            <a:r>
              <a:rPr lang="ja-JP" altLang="ja-JP" dirty="0">
                <a:solidFill>
                  <a:schemeClr val="bg1"/>
                </a:solidFill>
              </a:rPr>
              <a:t> 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ja-JP" dirty="0">
                <a:solidFill>
                  <a:schemeClr val="bg1"/>
                </a:solidFill>
              </a:rPr>
              <a:t>夢も気力もない陰キャ帰宅部。なぜか自身の推理に根拠のない自信を持つ。</a:t>
            </a:r>
          </a:p>
          <a:p>
            <a:r>
              <a:rPr lang="ja-JP" altLang="ja-JP" b="1" dirty="0">
                <a:solidFill>
                  <a:srgbClr val="C00000"/>
                </a:solidFill>
              </a:rPr>
              <a:t>【秘匿真実】実年齢：32歳 / 開発主任</a:t>
            </a:r>
            <a:endParaRPr lang="en-US" altLang="ja-JP" b="1" dirty="0">
              <a:solidFill>
                <a:srgbClr val="C00000"/>
              </a:solidFill>
            </a:endParaRPr>
          </a:p>
          <a:p>
            <a:r>
              <a:rPr lang="ja-JP" altLang="ja-JP" dirty="0">
                <a:solidFill>
                  <a:srgbClr val="C00000"/>
                </a:solidFill>
              </a:rPr>
              <a:t>将来、生物兵器テロ対策の権威となる天才。本プロジェクトを立ち上げた主軸。</a:t>
            </a:r>
            <a:endParaRPr lang="en-US" altLang="ja-JP" dirty="0">
              <a:solidFill>
                <a:srgbClr val="C00000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ja-JP" b="1" dirty="0">
                <a:solidFill>
                  <a:schemeClr val="bg1"/>
                </a:solidFill>
              </a:rPr>
              <a:t>検体番号03：東堂 響（とうどう ひびき）</a:t>
            </a:r>
            <a:endParaRPr lang="ja-JP" altLang="ja-JP" dirty="0">
              <a:solidFill>
                <a:schemeClr val="bg1"/>
              </a:solidFill>
            </a:endParaRPr>
          </a:p>
          <a:p>
            <a:r>
              <a:rPr lang="ja-JP" altLang="ja-JP" b="1" dirty="0">
                <a:solidFill>
                  <a:schemeClr val="bg1"/>
                </a:solidFill>
              </a:rPr>
              <a:t>【開示記録】自認：20歳 / 防衛大生</a:t>
            </a:r>
            <a:r>
              <a:rPr lang="ja-JP" altLang="ja-JP" dirty="0">
                <a:solidFill>
                  <a:schemeClr val="bg1"/>
                </a:solidFill>
              </a:rPr>
              <a:t> 成績優秀だが頭でっかち。無意識に周囲を見下す未熟な若者。</a:t>
            </a:r>
          </a:p>
          <a:p>
            <a:r>
              <a:rPr lang="ja-JP" altLang="ja-JP" b="1" dirty="0">
                <a:solidFill>
                  <a:srgbClr val="C00000"/>
                </a:solidFill>
              </a:rPr>
              <a:t>【秘匿真実】実年齢：51歳 / 潜水艦艦長</a:t>
            </a:r>
            <a:r>
              <a:rPr lang="ja-JP" altLang="ja-JP" dirty="0">
                <a:solidFill>
                  <a:srgbClr val="C00000"/>
                </a:solidFill>
              </a:rPr>
              <a:t> 登場人物中、最大の年齢ギャップ。30年以上の経験が生んだ、冷静沈着な本物の指揮官。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ja-JP" b="1" dirty="0">
                <a:solidFill>
                  <a:schemeClr val="bg1"/>
                </a:solidFill>
              </a:rPr>
              <a:t>検体番号0</a:t>
            </a:r>
            <a:r>
              <a:rPr lang="en-US" altLang="ja-JP" b="1" dirty="0">
                <a:solidFill>
                  <a:schemeClr val="bg1"/>
                </a:solidFill>
              </a:rPr>
              <a:t>7</a:t>
            </a:r>
            <a:r>
              <a:rPr lang="ja-JP" altLang="ja-JP" b="1" dirty="0">
                <a:solidFill>
                  <a:schemeClr val="bg1"/>
                </a:solidFill>
              </a:rPr>
              <a:t>：</a:t>
            </a:r>
            <a:r>
              <a:rPr lang="ja-JP" altLang="en-US" b="1" dirty="0">
                <a:solidFill>
                  <a:schemeClr val="bg1"/>
                </a:solidFill>
              </a:rPr>
              <a:t>霧島薊</a:t>
            </a:r>
            <a:r>
              <a:rPr lang="ja-JP" altLang="ja-JP" b="1" dirty="0">
                <a:solidFill>
                  <a:schemeClr val="bg1"/>
                </a:solidFill>
              </a:rPr>
              <a:t>（</a:t>
            </a:r>
            <a:r>
              <a:rPr lang="ja-JP" altLang="en-US" b="1" dirty="0">
                <a:solidFill>
                  <a:schemeClr val="bg1"/>
                </a:solidFill>
              </a:rPr>
              <a:t>きりしまあざみ</a:t>
            </a:r>
            <a:r>
              <a:rPr lang="ja-JP" altLang="ja-JP" b="1" dirty="0">
                <a:solidFill>
                  <a:schemeClr val="bg1"/>
                </a:solidFill>
              </a:rPr>
              <a:t>）</a:t>
            </a:r>
            <a:endParaRPr lang="ja-JP" altLang="ja-JP" dirty="0">
              <a:solidFill>
                <a:schemeClr val="bg1"/>
              </a:solidFill>
            </a:endParaRPr>
          </a:p>
          <a:p>
            <a:r>
              <a:rPr lang="ja-JP" altLang="ja-JP" b="1" dirty="0">
                <a:solidFill>
                  <a:schemeClr val="bg1"/>
                </a:solidFill>
              </a:rPr>
              <a:t>【開示記録】自認：</a:t>
            </a:r>
            <a:r>
              <a:rPr lang="ja-JP" altLang="en-US" b="1" dirty="0">
                <a:solidFill>
                  <a:schemeClr val="bg1"/>
                </a:solidFill>
              </a:rPr>
              <a:t> </a:t>
            </a:r>
            <a:r>
              <a:rPr lang="en-US" altLang="ja-JP" b="1" dirty="0">
                <a:solidFill>
                  <a:schemeClr val="bg1"/>
                </a:solidFill>
              </a:rPr>
              <a:t>28</a:t>
            </a:r>
            <a:r>
              <a:rPr lang="ja-JP" altLang="ja-JP" b="1" dirty="0">
                <a:solidFill>
                  <a:schemeClr val="bg1"/>
                </a:solidFill>
              </a:rPr>
              <a:t>歳 / </a:t>
            </a:r>
            <a:r>
              <a:rPr lang="ja-JP" altLang="en-US" b="1" dirty="0">
                <a:solidFill>
                  <a:schemeClr val="bg1"/>
                </a:solidFill>
              </a:rPr>
              <a:t>犯罪者</a:t>
            </a:r>
            <a:r>
              <a:rPr lang="en-US" altLang="ja-JP" b="1" dirty="0">
                <a:solidFill>
                  <a:schemeClr val="bg1"/>
                </a:solidFill>
              </a:rPr>
              <a:t> </a:t>
            </a:r>
            <a:r>
              <a:rPr lang="ja-JP" altLang="en-US" dirty="0">
                <a:solidFill>
                  <a:schemeClr val="bg1"/>
                </a:solidFill>
              </a:rPr>
              <a:t>見た目はおっとりしていそうな女性だが、善悪を理解できない。 </a:t>
            </a:r>
            <a:r>
              <a:rPr lang="ja-JP" altLang="ja-JP" b="1" dirty="0">
                <a:solidFill>
                  <a:srgbClr val="C00000"/>
                </a:solidFill>
              </a:rPr>
              <a:t>【秘匿真実】実年齢：</a:t>
            </a:r>
            <a:r>
              <a:rPr lang="ja-JP" altLang="en-US" b="1" dirty="0">
                <a:solidFill>
                  <a:srgbClr val="C00000"/>
                </a:solidFill>
              </a:rPr>
              <a:t> </a:t>
            </a:r>
            <a:r>
              <a:rPr lang="en-US" altLang="ja-JP" b="1" dirty="0">
                <a:solidFill>
                  <a:srgbClr val="C00000"/>
                </a:solidFill>
              </a:rPr>
              <a:t>31</a:t>
            </a:r>
            <a:r>
              <a:rPr lang="ja-JP" altLang="ja-JP" b="1" dirty="0">
                <a:solidFill>
                  <a:srgbClr val="C00000"/>
                </a:solidFill>
              </a:rPr>
              <a:t>歳 /</a:t>
            </a:r>
            <a:r>
              <a:rPr lang="ja-JP" altLang="en-US" b="1" dirty="0">
                <a:solidFill>
                  <a:srgbClr val="C00000"/>
                </a:solidFill>
              </a:rPr>
              <a:t>被検体要員 </a:t>
            </a:r>
            <a:r>
              <a:rPr lang="ja-JP" altLang="en-US" dirty="0">
                <a:solidFill>
                  <a:srgbClr val="C00000"/>
                </a:solidFill>
              </a:rPr>
              <a:t>強靭な肉体を買われ検体要員として起用される。</a:t>
            </a:r>
          </a:p>
          <a:p>
            <a:endParaRPr lang="ja-JP" altLang="ja-JP" dirty="0">
              <a:solidFill>
                <a:schemeClr val="bg1"/>
              </a:solidFill>
            </a:endParaRPr>
          </a:p>
          <a:p>
            <a:endParaRPr lang="ja-JP" altLang="ja-JP" dirty="0">
              <a:solidFill>
                <a:schemeClr val="bg1"/>
              </a:solidFill>
            </a:endParaRPr>
          </a:p>
          <a:p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DCE392-3183-6A33-AACB-ABA43C04702C}"/>
              </a:ext>
            </a:extLst>
          </p:cNvPr>
          <p:cNvSpPr txBox="1"/>
          <p:nvPr/>
        </p:nvSpPr>
        <p:spPr>
          <a:xfrm>
            <a:off x="471129" y="987414"/>
            <a:ext cx="11191783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 dirty="0">
                <a:solidFill>
                  <a:schemeClr val="bg1"/>
                </a:solidFill>
              </a:rPr>
              <a:t>「彼ら」は人間ではない</a:t>
            </a:r>
            <a:r>
              <a:rPr lang="ja-JP" altLang="ja-JP" sz="1600" dirty="0">
                <a:solidFill>
                  <a:schemeClr val="bg1"/>
                </a:solidFill>
              </a:rPr>
              <a:t> </a:t>
            </a:r>
            <a:endParaRPr lang="en-US" altLang="ja-JP" sz="1600" dirty="0">
              <a:solidFill>
                <a:schemeClr val="bg1"/>
              </a:solidFill>
            </a:endParaRPr>
          </a:p>
          <a:p>
            <a:r>
              <a:rPr lang="ja-JP" altLang="ja-JP" sz="1600" dirty="0">
                <a:solidFill>
                  <a:schemeClr val="bg1"/>
                </a:solidFill>
              </a:rPr>
              <a:t>潜水艦をかつて管理していた人間を模倣し、実験によって生み出された「未知の生命体」である。</a:t>
            </a:r>
          </a:p>
          <a:p>
            <a:r>
              <a:rPr lang="ja-JP" altLang="ja-JP" sz="1600" b="1" dirty="0">
                <a:solidFill>
                  <a:schemeClr val="bg1"/>
                </a:solidFill>
              </a:rPr>
              <a:t>不完全な記憶の複製</a:t>
            </a:r>
            <a:endParaRPr lang="en-US" altLang="ja-JP" sz="1600" dirty="0">
              <a:solidFill>
                <a:schemeClr val="bg1"/>
              </a:solidFill>
            </a:endParaRPr>
          </a:p>
          <a:p>
            <a:r>
              <a:rPr lang="ja-JP" altLang="ja-JP" sz="1600" dirty="0">
                <a:solidFill>
                  <a:schemeClr val="bg1"/>
                </a:solidFill>
              </a:rPr>
              <a:t>生命体は対象となる人間の記憶を再現するが、それは人生の全記録ではない。その人間が「最も強烈な印象を抱いていた時代」の記憶が、彼らの「人格」として定着する。</a:t>
            </a:r>
          </a:p>
          <a:p>
            <a:r>
              <a:rPr lang="ja-JP" altLang="en-US" sz="1600" b="1" dirty="0">
                <a:solidFill>
                  <a:schemeClr val="bg1"/>
                </a:solidFill>
              </a:rPr>
              <a:t>最終目標</a:t>
            </a:r>
            <a:endParaRPr lang="en-US" altLang="ja-JP" sz="1600" b="1" dirty="0">
              <a:solidFill>
                <a:schemeClr val="bg1"/>
              </a:solidFill>
            </a:endParaRPr>
          </a:p>
          <a:p>
            <a:r>
              <a:rPr lang="ja-JP" altLang="en-US" sz="1600" dirty="0">
                <a:solidFill>
                  <a:schemeClr val="bg1"/>
                </a:solidFill>
              </a:rPr>
              <a:t>潜水艦という名の揺り籠（</a:t>
            </a:r>
            <a:r>
              <a:rPr lang="ja-JP" altLang="ja-JP" sz="1600" dirty="0">
                <a:solidFill>
                  <a:schemeClr val="bg1"/>
                </a:solidFill>
              </a:rPr>
              <a:t>クレイドル</a:t>
            </a:r>
            <a:r>
              <a:rPr lang="ja-JP" altLang="en-US" sz="1600" dirty="0">
                <a:solidFill>
                  <a:schemeClr val="bg1"/>
                </a:solidFill>
              </a:rPr>
              <a:t>）で生態兵器の実用化を目指す。はずだった</a:t>
            </a:r>
            <a:r>
              <a:rPr lang="en-US" altLang="ja-JP" sz="1600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E5C3F0-45F3-CD97-5BC2-E79564948C93}"/>
              </a:ext>
            </a:extLst>
          </p:cNvPr>
          <p:cNvSpPr/>
          <p:nvPr/>
        </p:nvSpPr>
        <p:spPr>
          <a:xfrm>
            <a:off x="405442" y="3039043"/>
            <a:ext cx="65687" cy="1403562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B69748-6263-8C67-FDCC-BBF21DB16E59}"/>
              </a:ext>
            </a:extLst>
          </p:cNvPr>
          <p:cNvSpPr/>
          <p:nvPr/>
        </p:nvSpPr>
        <p:spPr>
          <a:xfrm>
            <a:off x="405442" y="4559371"/>
            <a:ext cx="65687" cy="131121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D8A0DB-CAF8-38C5-2157-5319C4F43E45}"/>
              </a:ext>
            </a:extLst>
          </p:cNvPr>
          <p:cNvSpPr/>
          <p:nvPr/>
        </p:nvSpPr>
        <p:spPr>
          <a:xfrm>
            <a:off x="405442" y="6044108"/>
            <a:ext cx="65687" cy="131121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F7A942-8FA5-7501-7A93-2D3E48FFBAAA}"/>
              </a:ext>
            </a:extLst>
          </p:cNvPr>
          <p:cNvSpPr txBox="1"/>
          <p:nvPr/>
        </p:nvSpPr>
        <p:spPr>
          <a:xfrm rot="1270976">
            <a:off x="9762020" y="856927"/>
            <a:ext cx="2294626" cy="52322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solidFill>
                  <a:srgbClr val="C00000"/>
                </a:solidFill>
              </a:rPr>
              <a:t>TOP SECRET</a:t>
            </a:r>
            <a:endParaRPr kumimoji="1" lang="ja-JP" altLang="en-US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4416730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730</TotalTime>
  <Words>2672</Words>
  <Application>Microsoft Office PowerPoint</Application>
  <PresentationFormat>Widescreen</PresentationFormat>
  <Paragraphs>181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游ゴシック</vt:lpstr>
      <vt:lpstr>游明朝</vt:lpstr>
      <vt:lpstr>Arial</vt:lpstr>
      <vt:lpstr>Corbel</vt:lpstr>
      <vt:lpstr>Depth</vt:lpstr>
      <vt:lpstr>CRADLE PROTOCOL</vt:lpstr>
      <vt:lpstr>コンセプト</vt:lpstr>
      <vt:lpstr>『クレイドル・プロトコル』を形作る3つの要素</vt:lpstr>
      <vt:lpstr>ゲームフロー</vt:lpstr>
      <vt:lpstr>ゲーム画面：潜水艦操作</vt:lpstr>
      <vt:lpstr>ゲーム画面：対話フェーズ</vt:lpstr>
      <vt:lpstr>クレイドル・プロトコル：参加者リスト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KOUKI MASAKI</dc:creator>
  <cp:lastModifiedBy>KOUKI MASAKI</cp:lastModifiedBy>
  <cp:revision>24</cp:revision>
  <cp:lastPrinted>2026-06-19T12:23:20Z</cp:lastPrinted>
  <dcterms:created xsi:type="dcterms:W3CDTF">2026-06-14T04:57:15Z</dcterms:created>
  <dcterms:modified xsi:type="dcterms:W3CDTF">2026-06-19T12:35:24Z</dcterms:modified>
</cp:coreProperties>
</file>