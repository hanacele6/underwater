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5BBBB-1B90-4927-A9C6-94CA1E76F9D9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3DF577-0044-4E91-A140-DE0DEBE31FF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5026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3DF577-0044-4E91-A140-DE0DEBE31FF7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9152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0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871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004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14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altLang="ja-JP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604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309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479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2938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089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4194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22107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200705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2003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altLang="ja-JP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altLang="ja-JP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793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907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9792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897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13EC9D33-CABD-425B-8B1B-454427432ACE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5360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5C0E5D2-453A-985A-D252-117B00A18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24308"/>
            <a:ext cx="12192000" cy="79066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515EA2-516D-EA13-6FEC-AAF6F508DD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1027522"/>
          </a:xfrm>
        </p:spPr>
        <p:txBody>
          <a:bodyPr>
            <a:normAutofit/>
          </a:bodyPr>
          <a:lstStyle/>
          <a:p>
            <a:pPr algn="ctr"/>
            <a:r>
              <a:rPr lang="ja-JP" altLang="ja-JP" sz="6600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クレイドル・プロトコル</a:t>
            </a:r>
            <a:endParaRPr kumimoji="1" lang="ja-JP" sz="6600" u="sng" noProof="0" dirty="0"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A048CC-7EEE-617E-81B6-A153BE2EA6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02377"/>
            <a:ext cx="12192000" cy="3155623"/>
          </a:xfrm>
        </p:spPr>
        <p:txBody>
          <a:bodyPr>
            <a:noAutofit/>
          </a:bodyPr>
          <a:lstStyle/>
          <a:p>
            <a:pPr algn="l"/>
            <a:endParaRPr lang="en-US" altLang="ja-JP" sz="1400" b="1" dirty="0"/>
          </a:p>
          <a:p>
            <a:pPr algn="l"/>
            <a:endParaRPr lang="en-US" altLang="ja-JP" sz="1400" b="1" dirty="0"/>
          </a:p>
          <a:p>
            <a:pPr algn="l"/>
            <a:r>
              <a:rPr lang="ja-JP" altLang="en-US" sz="1800" b="1" dirty="0"/>
              <a:t>立教大学　理学研究科</a:t>
            </a:r>
            <a:endParaRPr lang="en-US" altLang="ja-JP" sz="1800" b="1" dirty="0"/>
          </a:p>
          <a:p>
            <a:pPr algn="l"/>
            <a:r>
              <a:rPr lang="ja-JP" altLang="en-US" sz="1800" b="1" dirty="0"/>
              <a:t>正木</a:t>
            </a:r>
            <a:r>
              <a:rPr lang="ja-JP" altLang="ja-JP" sz="1800" b="1" dirty="0"/>
              <a:t>滉己</a:t>
            </a:r>
            <a:endParaRPr lang="en-US" altLang="ja-JP" sz="1800" b="1" dirty="0"/>
          </a:p>
          <a:p>
            <a:pPr algn="l"/>
            <a:endParaRPr lang="en-US" altLang="ja-JP" sz="1400" b="1" dirty="0"/>
          </a:p>
          <a:p>
            <a:pPr algn="l"/>
            <a:r>
              <a:rPr lang="ja-JP" altLang="ja-JP" sz="1400" b="1" dirty="0"/>
              <a:t>■ ジャンル</a:t>
            </a:r>
            <a:r>
              <a:rPr lang="ja-JP" altLang="en-US" sz="1400" dirty="0"/>
              <a:t>：</a:t>
            </a:r>
            <a:r>
              <a:rPr lang="ja-JP" altLang="ja-JP" sz="1400" dirty="0"/>
              <a:t>SFサスペンス・</a:t>
            </a:r>
            <a:r>
              <a:rPr lang="ja-JP" altLang="en-US" sz="1400" dirty="0"/>
              <a:t>３</a:t>
            </a:r>
            <a:r>
              <a:rPr lang="en-US" altLang="ja-JP" sz="1400" dirty="0"/>
              <a:t>D</a:t>
            </a:r>
            <a:r>
              <a:rPr lang="ja-JP" altLang="ja-JP" sz="1400" dirty="0"/>
              <a:t>探索アドベンチャー</a:t>
            </a:r>
          </a:p>
          <a:p>
            <a:pPr algn="l"/>
            <a:r>
              <a:rPr lang="ja-JP" altLang="ja-JP" sz="1400" b="1" dirty="0"/>
              <a:t>■ プラットフォーム / 開発環境</a:t>
            </a:r>
            <a:r>
              <a:rPr lang="ja-JP" altLang="ja-JP" sz="1400" dirty="0"/>
              <a:t> PC</a:t>
            </a:r>
            <a:r>
              <a:rPr lang="ja-JP" altLang="en-US" sz="1400" dirty="0"/>
              <a:t>：</a:t>
            </a:r>
            <a:r>
              <a:rPr lang="ja-JP" altLang="ja-JP" sz="1400" dirty="0"/>
              <a:t>（Steam想定） / Unity・C#</a:t>
            </a:r>
          </a:p>
          <a:p>
            <a:pPr algn="l"/>
            <a:r>
              <a:rPr lang="ja-JP" altLang="ja-JP" sz="1400" b="1" dirty="0"/>
              <a:t>■ ターゲット</a:t>
            </a:r>
            <a:r>
              <a:rPr lang="ja-JP" altLang="en-US" sz="1400" dirty="0"/>
              <a:t>：</a:t>
            </a:r>
            <a:endParaRPr lang="ja-JP" altLang="ja-JP" sz="1400" dirty="0"/>
          </a:p>
          <a:p>
            <a:pPr algn="l"/>
            <a:r>
              <a:rPr lang="ja-JP" altLang="ja-JP" sz="1400" dirty="0"/>
              <a:t>重厚なSF設定や、予想を裏切るストーリー展開（パラダイムシフト）を好むコア層のプレイヤー。</a:t>
            </a:r>
          </a:p>
          <a:p>
            <a:pPr algn="l"/>
            <a:r>
              <a:rPr lang="ja-JP" altLang="ja-JP" sz="1400" dirty="0"/>
              <a:t>閉鎖空間での緻密な探索や、NPCとの対話による物語の分岐を楽しみたいプレイヤー。</a:t>
            </a:r>
          </a:p>
          <a:p>
            <a:pPr algn="l"/>
            <a:r>
              <a:rPr lang="ja-JP" altLang="ja-JP" sz="1400" b="1" dirty="0"/>
              <a:t>■ </a:t>
            </a:r>
            <a:r>
              <a:rPr lang="ja-JP" altLang="en-US" sz="1400" b="1" dirty="0"/>
              <a:t>プレイ人数</a:t>
            </a:r>
            <a:r>
              <a:rPr lang="ja-JP" altLang="en-US" sz="1400" dirty="0"/>
              <a:t>：１人</a:t>
            </a:r>
            <a:endParaRPr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105483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96951-C86D-22A5-DA94-8FE5A358B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7109"/>
            <a:ext cx="10515600" cy="695579"/>
          </a:xfrm>
        </p:spPr>
        <p:txBody>
          <a:bodyPr>
            <a:noAutofit/>
          </a:bodyPr>
          <a:lstStyle/>
          <a:p>
            <a:pPr algn="ctr"/>
            <a:r>
              <a:rPr lang="ja-JP" altLang="ja-JP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コンセプト</a:t>
            </a:r>
            <a:endParaRPr kumimoji="1" lang="ja-JP" altLang="en-US" u="sng" dirty="0"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33C892-4F46-5F21-9C2D-490D7D293389}"/>
              </a:ext>
            </a:extLst>
          </p:cNvPr>
          <p:cNvSpPr txBox="1"/>
          <p:nvPr/>
        </p:nvSpPr>
        <p:spPr>
          <a:xfrm>
            <a:off x="348996" y="1097280"/>
            <a:ext cx="114940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sz="3200" dirty="0"/>
              <a:t>深海に沈む密室（潜水艦）で目を覚ました記憶喪失の10人——</a:t>
            </a:r>
            <a:endParaRPr kumimoji="1" lang="ja-JP" alt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E8B789-6F8C-D944-6EF4-0B15E2DFA905}"/>
              </a:ext>
            </a:extLst>
          </p:cNvPr>
          <p:cNvSpPr/>
          <p:nvPr/>
        </p:nvSpPr>
        <p:spPr>
          <a:xfrm>
            <a:off x="0" y="1682054"/>
            <a:ext cx="6096000" cy="5175945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616C8D-5A29-3D00-CE49-1DF71103434D}"/>
              </a:ext>
            </a:extLst>
          </p:cNvPr>
          <p:cNvSpPr/>
          <p:nvPr/>
        </p:nvSpPr>
        <p:spPr>
          <a:xfrm>
            <a:off x="6096000" y="1682054"/>
            <a:ext cx="6096000" cy="517594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7110C6B2-9793-FE0C-89E7-69F431075952}"/>
              </a:ext>
            </a:extLst>
          </p:cNvPr>
          <p:cNvSpPr/>
          <p:nvPr/>
        </p:nvSpPr>
        <p:spPr>
          <a:xfrm flipV="1">
            <a:off x="5209749" y="1682052"/>
            <a:ext cx="1681825" cy="5175945"/>
          </a:xfrm>
          <a:prstGeom prst="rtTriangle">
            <a:avLst/>
          </a:prstGeom>
          <a:solidFill>
            <a:srgbClr val="FF4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Right Triangle 10">
            <a:extLst>
              <a:ext uri="{FF2B5EF4-FFF2-40B4-BE49-F238E27FC236}">
                <a16:creationId xmlns:a16="http://schemas.microsoft.com/office/drawing/2014/main" id="{1B16199A-DBDA-D027-A814-EEA2E1A1EB2E}"/>
              </a:ext>
            </a:extLst>
          </p:cNvPr>
          <p:cNvSpPr/>
          <p:nvPr/>
        </p:nvSpPr>
        <p:spPr>
          <a:xfrm rot="10800000" flipV="1">
            <a:off x="5209748" y="1682052"/>
            <a:ext cx="1681825" cy="517594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C16E72-DCD1-D4DF-0AE9-725ED7CF46B6}"/>
              </a:ext>
            </a:extLst>
          </p:cNvPr>
          <p:cNvSpPr txBox="1"/>
          <p:nvPr/>
        </p:nvSpPr>
        <p:spPr>
          <a:xfrm>
            <a:off x="-89154" y="1795914"/>
            <a:ext cx="6094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4000" dirty="0"/>
              <a:t>「誰が裏切り者か？」</a:t>
            </a:r>
            <a:endParaRPr lang="ja-JP" altLang="en-US" sz="4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4C7CC9-5764-7877-296D-E0CA3803E750}"/>
              </a:ext>
            </a:extLst>
          </p:cNvPr>
          <p:cNvSpPr txBox="1"/>
          <p:nvPr/>
        </p:nvSpPr>
        <p:spPr>
          <a:xfrm>
            <a:off x="6666066" y="1698828"/>
            <a:ext cx="62499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4000" dirty="0"/>
              <a:t>「自分たちは何者か？」</a:t>
            </a:r>
            <a:endParaRPr lang="ja-JP" altLang="en-US" sz="4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32B928-AF8A-D98C-3368-F875110DF489}"/>
              </a:ext>
            </a:extLst>
          </p:cNvPr>
          <p:cNvSpPr txBox="1"/>
          <p:nvPr/>
        </p:nvSpPr>
        <p:spPr>
          <a:xfrm>
            <a:off x="0" y="3977636"/>
            <a:ext cx="12344400" cy="58477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3200" dirty="0"/>
              <a:t>しかし、仲間の傷口から流れた血は </a:t>
            </a:r>
            <a:r>
              <a:rPr lang="ja-JP" altLang="ja-JP" sz="3200" b="1" dirty="0"/>
              <a:t>[ </a:t>
            </a:r>
            <a:r>
              <a:rPr lang="ja-JP" altLang="ja-JP" sz="3200" b="1" dirty="0">
                <a:solidFill>
                  <a:srgbClr val="FF0000"/>
                </a:solidFill>
              </a:rPr>
              <a:t>赤</a:t>
            </a:r>
            <a:r>
              <a:rPr lang="ja-JP" altLang="ja-JP" sz="3200" b="1" dirty="0"/>
              <a:t> ]</a:t>
            </a:r>
            <a:r>
              <a:rPr lang="ja-JP" altLang="ja-JP" sz="3200" dirty="0"/>
              <a:t> では</a:t>
            </a:r>
            <a:r>
              <a:rPr lang="ja-JP" altLang="en-US" sz="3200" dirty="0"/>
              <a:t>なかった</a:t>
            </a:r>
            <a:r>
              <a:rPr lang="ja-JP" altLang="ja-JP" sz="3200" dirty="0"/>
              <a:t>……</a:t>
            </a:r>
            <a:endParaRPr lang="ja-JP" altLang="en-US" sz="3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9A05E5-4F84-B04F-4B2E-7CFFAD366FAD}"/>
              </a:ext>
            </a:extLst>
          </p:cNvPr>
          <p:cNvSpPr txBox="1"/>
          <p:nvPr/>
        </p:nvSpPr>
        <p:spPr>
          <a:xfrm>
            <a:off x="109538" y="2581245"/>
            <a:ext cx="66111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対話</a:t>
            </a:r>
            <a:r>
              <a:rPr lang="ja-JP" altLang="en-US" sz="3200" dirty="0"/>
              <a:t>と証拠</a:t>
            </a:r>
            <a:r>
              <a:rPr lang="ja-JP" altLang="ja-JP" sz="3200" dirty="0"/>
              <a:t>から嘘と矛盾を突き</a:t>
            </a:r>
            <a:endParaRPr lang="ja-JP" altLang="en-US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4D5A62-515E-E0D8-064B-9E8AD2DEA50E}"/>
              </a:ext>
            </a:extLst>
          </p:cNvPr>
          <p:cNvSpPr txBox="1"/>
          <p:nvPr/>
        </p:nvSpPr>
        <p:spPr>
          <a:xfrm>
            <a:off x="109538" y="3133248"/>
            <a:ext cx="76398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互いを疑い合う犯人探し</a:t>
            </a:r>
            <a:endParaRPr lang="ja-JP" altLang="en-US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2A4CAD-D83B-5247-5631-BD505E442D31}"/>
              </a:ext>
            </a:extLst>
          </p:cNvPr>
          <p:cNvSpPr txBox="1"/>
          <p:nvPr/>
        </p:nvSpPr>
        <p:spPr>
          <a:xfrm>
            <a:off x="6692647" y="2564859"/>
            <a:ext cx="66111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己がかつての人間を模倣した</a:t>
            </a:r>
            <a:endParaRPr lang="ja-JP" alt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6BF0D2-BEEC-7068-7B17-7CDC9B26AE4A}"/>
              </a:ext>
            </a:extLst>
          </p:cNvPr>
          <p:cNvSpPr txBox="1"/>
          <p:nvPr/>
        </p:nvSpPr>
        <p:spPr>
          <a:xfrm>
            <a:off x="6304788" y="3149634"/>
            <a:ext cx="719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未知の生命体であるという真実</a:t>
            </a:r>
            <a:endParaRPr lang="ja-JP" altLang="en-US" sz="3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BE2323-EF0A-42E8-BEFE-072B853BCD80}"/>
              </a:ext>
            </a:extLst>
          </p:cNvPr>
          <p:cNvSpPr/>
          <p:nvPr/>
        </p:nvSpPr>
        <p:spPr>
          <a:xfrm>
            <a:off x="0" y="4919472"/>
            <a:ext cx="12192000" cy="173182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1614B2-32FA-0B12-AEC0-18B0C153274C}"/>
              </a:ext>
            </a:extLst>
          </p:cNvPr>
          <p:cNvSpPr txBox="1"/>
          <p:nvPr/>
        </p:nvSpPr>
        <p:spPr>
          <a:xfrm>
            <a:off x="246888" y="5081639"/>
            <a:ext cx="116982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逃げ場のない</a:t>
            </a:r>
            <a:r>
              <a:rPr lang="ja-JP" altLang="ja-JP" sz="3200" dirty="0"/>
              <a:t>深海の「閉塞感」 × 嘘を暴き合う「</a:t>
            </a:r>
            <a:r>
              <a:rPr lang="ja-JP" altLang="en-US" sz="3200" dirty="0"/>
              <a:t>犯人探し</a:t>
            </a:r>
            <a:r>
              <a:rPr lang="ja-JP" altLang="ja-JP" sz="3200" dirty="0"/>
              <a:t>」</a:t>
            </a:r>
            <a:endParaRPr lang="en-US" altLang="ja-JP" sz="3200" dirty="0"/>
          </a:p>
          <a:p>
            <a:pPr algn="ctr"/>
            <a:r>
              <a:rPr lang="ja-JP" altLang="en-US" sz="3200" dirty="0"/>
              <a:t>そして</a:t>
            </a:r>
            <a:endParaRPr lang="en-US" altLang="ja-JP" sz="3200" dirty="0"/>
          </a:p>
          <a:p>
            <a:pPr algn="ctr"/>
            <a:r>
              <a:rPr lang="ja-JP" altLang="ja-JP" sz="3200" dirty="0"/>
              <a:t>犯人探しがすべて覆る、圧倒的なパラダイムシフト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91181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076D-005F-AB71-51E1-9312A6474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90DE5-C0C4-268A-4A80-C68820F24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9587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43A57-6B25-8938-F3BC-910A298E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6BE99-0860-635B-3658-5BAE7BEE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5D412F-00BE-F4D3-CB6C-0176E4415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" y="847364"/>
            <a:ext cx="9364382" cy="516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53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D654D-1D83-F787-1AE8-6CB4C19FF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94CD8-8DAA-6191-6150-3AE0DB815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23AC9-C741-E797-9353-EDA2642E0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572" y="918812"/>
            <a:ext cx="9354856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7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3BA61-8A00-EE64-7A72-679EF2851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5414A-6C28-C159-9259-3E8CA7E70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EE5AF7-0456-36BF-315A-498C5A880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046" y="804496"/>
            <a:ext cx="9373908" cy="524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44673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400</TotalTime>
  <Words>373</Words>
  <Application>Microsoft Office PowerPoint</Application>
  <PresentationFormat>Widescreen</PresentationFormat>
  <Paragraphs>25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游ゴシック</vt:lpstr>
      <vt:lpstr>游明朝</vt:lpstr>
      <vt:lpstr>Arial</vt:lpstr>
      <vt:lpstr>Corbel</vt:lpstr>
      <vt:lpstr>Depth</vt:lpstr>
      <vt:lpstr>クレイドル・プロトコル</vt:lpstr>
      <vt:lpstr>コンセプト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KOUKI MASAKI</dc:creator>
  <cp:lastModifiedBy>KOUKI MASAKI</cp:lastModifiedBy>
  <cp:revision>3</cp:revision>
  <dcterms:created xsi:type="dcterms:W3CDTF">2026-06-14T04:57:15Z</dcterms:created>
  <dcterms:modified xsi:type="dcterms:W3CDTF">2026-06-14T11:37:20Z</dcterms:modified>
</cp:coreProperties>
</file>