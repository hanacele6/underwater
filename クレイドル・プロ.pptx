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4464028"/>
            <a:ext cx="9144000" cy="1641490"/>
          </a:xfrm>
        </p:spPr>
        <p:txBody>
          <a:bodyPr wrap="none" anchor="t">
            <a:normAutofit/>
          </a:bodyPr>
          <a:lstStyle>
            <a:lvl1pPr algn="r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9799" y="3694375"/>
            <a:ext cx="9144000" cy="754025"/>
          </a:xfrm>
        </p:spPr>
        <p:txBody>
          <a:bodyPr anchor="b">
            <a:normAutofit/>
          </a:bodyPr>
          <a:lstStyle>
            <a:lvl1pPr marL="0" indent="0" algn="r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ja-JP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9D33-CABD-425B-8B1B-454427432ACE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6074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9D33-CABD-425B-8B1B-454427432ACE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68719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54532" y="4464028"/>
            <a:ext cx="9144000" cy="1641490"/>
          </a:xfrm>
        </p:spPr>
        <p:txBody>
          <a:bodyPr wrap="none" anchor="t">
            <a:normAutofit/>
          </a:bodyPr>
          <a:lstStyle>
            <a:lvl1pPr algn="l">
              <a:defRPr sz="9600" b="0" spc="-300">
                <a:gradFill flip="none" rotWithShape="1">
                  <a:gsLst>
                    <a:gs pos="32000">
                      <a:schemeClr val="tx1">
                        <a:lumMod val="89000"/>
                      </a:schemeClr>
                    </a:gs>
                    <a:gs pos="0">
                      <a:schemeClr val="bg1">
                        <a:lumMod val="47000"/>
                        <a:lumOff val="53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8100000" scaled="1"/>
                  <a:tileRect/>
                </a:gradFill>
                <a:effectLst>
                  <a:outerShdw blurRad="469900" dist="342900" dir="5400000" sy="-20000" rotWithShape="0">
                    <a:prstClr val="black">
                      <a:alpha val="66000"/>
                    </a:prstClr>
                  </a:outerShdw>
                </a:effectLst>
                <a:latin typeface="+mj-lt"/>
              </a:defRPr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854532" y="3693674"/>
            <a:ext cx="9144000" cy="754025"/>
          </a:xfrm>
        </p:spPr>
        <p:txBody>
          <a:bodyPr anchor="b">
            <a:normAutofit/>
          </a:bodyPr>
          <a:lstStyle>
            <a:lvl1pPr marL="0" indent="0" algn="l">
              <a:buNone/>
              <a:defRPr sz="3200" b="0">
                <a:gradFill flip="none" rotWithShape="1"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  <a:tileRect/>
                </a:gra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ja-JP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9D33-CABD-425B-8B1B-454427432ACE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700407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20000" y="1825625"/>
            <a:ext cx="5025216" cy="4351338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19840" y="1825625"/>
            <a:ext cx="5033960" cy="4351338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9D33-CABD-425B-8B1B-454427432ACE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0143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681163"/>
            <a:ext cx="5025216" cy="823912"/>
          </a:xfrm>
        </p:spPr>
        <p:txBody>
          <a:bodyPr anchor="b"/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20000" y="2505075"/>
            <a:ext cx="5025216" cy="3684588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19840" y="1681163"/>
            <a:ext cx="5035548" cy="82391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altLang="ja-JP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19840" y="2505075"/>
            <a:ext cx="5035548" cy="3684588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9D33-CABD-425B-8B1B-454427432ACE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91604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9D33-CABD-425B-8B1B-454427432ACE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3309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9D33-CABD-425B-8B1B-454427432ACE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74790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9D33-CABD-425B-8B1B-454427432ACE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2938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20000" y="2057400"/>
            <a:ext cx="3652025" cy="3811588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9D33-CABD-425B-8B1B-454427432ACE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40089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367160"/>
            <a:ext cx="10515600" cy="81935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9788" y="987425"/>
            <a:ext cx="10515600" cy="337973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5186516"/>
            <a:ext cx="10514012" cy="682472"/>
          </a:xfrm>
        </p:spPr>
        <p:txBody>
          <a:bodyPr/>
          <a:lstStyle>
            <a:lvl1pPr marL="0" indent="0">
              <a:buNone/>
              <a:defRPr sz="160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1"/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9D33-CABD-425B-8B1B-454427432ACE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4194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489399"/>
            <a:ext cx="10514012" cy="1501826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9D33-CABD-425B-8B1B-454427432ACE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22107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365125"/>
            <a:ext cx="9302752" cy="2992904"/>
          </a:xfrm>
        </p:spPr>
        <p:txBody>
          <a:bodyPr anchor="ctr"/>
          <a:lstStyle>
            <a:lvl1pPr>
              <a:defRPr sz="44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4501729"/>
            <a:ext cx="10512424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9D33-CABD-425B-8B1B-454427432ACE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Box 8"/>
          <p:cNvSpPr txBox="1"/>
          <p:nvPr/>
        </p:nvSpPr>
        <p:spPr>
          <a:xfrm>
            <a:off x="1111044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00705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326967"/>
            <a:ext cx="10515600" cy="2511835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4850581"/>
            <a:ext cx="10514012" cy="114064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9D33-CABD-425B-8B1B-454427432ACE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20039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337282" y="188595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356798" y="257175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87994" y="1885950"/>
            <a:ext cx="2936241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altLang="ja-JP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77441" y="257175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29035" y="1885950"/>
            <a:ext cx="2932113" cy="57626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buNone/>
              <a:defRPr lang="en-US" sz="2400" b="0" dirty="0">
                <a:gradFill>
                  <a:gsLst>
                    <a:gs pos="15000">
                      <a:schemeClr val="tx2"/>
                    </a:gs>
                    <a:gs pos="73000">
                      <a:schemeClr val="tx2">
                        <a:lumMod val="60000"/>
                        <a:lumOff val="40000"/>
                      </a:schemeClr>
                    </a:gs>
                    <a:gs pos="0">
                      <a:schemeClr val="tx2">
                        <a:lumMod val="90000"/>
                        <a:lumOff val="10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16200000" scaled="1"/>
                </a:gradFill>
              </a:defRPr>
            </a:lvl1pPr>
          </a:lstStyle>
          <a:p>
            <a:pPr marL="0" lvl="0" indent="0">
              <a:buNone/>
            </a:pPr>
            <a:r>
              <a:rPr lang="en-US" altLang="ja-JP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29035" y="257175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9D33-CABD-425B-8B1B-454427432ACE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7938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332085" y="4297503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2085" y="2256354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332085" y="4873765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997" y="4297503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56354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7644" y="4873764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04322" y="4297503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gradFill>
                  <a:gsLst>
                    <a:gs pos="34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41000"/>
                        <a:lumOff val="59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4800000" scaled="0"/>
                </a:gra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04321" y="2256354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altLang="ja-JP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04197" y="4873762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9D33-CABD-425B-8B1B-454427432ACE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67907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9D33-CABD-425B-8B1B-454427432ACE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099792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9D33-CABD-425B-8B1B-454427432ACE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8976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20000" y="1825625"/>
            <a:ext cx="102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13EC9D33-CABD-425B-8B1B-454427432ACE}" type="datetimeFigureOut">
              <a:rPr kumimoji="1" lang="ja-JP" altLang="en-US" smtClean="0"/>
              <a:t>2026/6/14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gradFill flip="none" rotWithShape="1">
                  <a:gsLst>
                    <a:gs pos="28000">
                      <a:schemeClr val="tx1">
                        <a:lumMod val="93000"/>
                      </a:schemeClr>
                    </a:gs>
                    <a:gs pos="0">
                      <a:schemeClr val="bg1">
                        <a:lumMod val="38000"/>
                        <a:lumOff val="62000"/>
                      </a:schemeClr>
                    </a:gs>
                    <a:gs pos="100000">
                      <a:schemeClr val="tx2">
                        <a:lumMod val="0"/>
                        <a:lumOff val="100000"/>
                      </a:schemeClr>
                    </a:gs>
                  </a:gsLst>
                  <a:lin ang="5400000" scaled="1"/>
                  <a:tileRect/>
                </a:gradFill>
              </a:defRPr>
            </a:lvl1pPr>
          </a:lstStyle>
          <a:p>
            <a:fld id="{FB3773A9-02C5-4700-96E3-0D3AAE5FF80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53609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5400" b="0" kern="1200">
          <a:gradFill flip="none" rotWithShape="1">
            <a:gsLst>
              <a:gs pos="28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  <a:tileRect/>
          </a:gra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gradFill>
            <a:gsLst>
              <a:gs pos="34000">
                <a:schemeClr val="tx1">
                  <a:lumMod val="93000"/>
                </a:schemeClr>
              </a:gs>
              <a:gs pos="0">
                <a:schemeClr val="bg1">
                  <a:lumMod val="25000"/>
                  <a:lumOff val="75000"/>
                </a:schemeClr>
              </a:gs>
              <a:gs pos="100000">
                <a:schemeClr val="tx2">
                  <a:lumMod val="0"/>
                  <a:lumOff val="100000"/>
                </a:schemeClr>
              </a:gs>
            </a:gsLst>
            <a:lin ang="4800000" scaled="0"/>
          </a:gra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5C0E5D2-453A-985A-D252-117B00A18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24308"/>
            <a:ext cx="12192000" cy="790661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5515EA2-516D-EA13-6FEC-AAF6F508DD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50449"/>
            <a:ext cx="9144000" cy="1027522"/>
          </a:xfrm>
        </p:spPr>
        <p:txBody>
          <a:bodyPr>
            <a:normAutofit/>
          </a:bodyPr>
          <a:lstStyle/>
          <a:p>
            <a:pPr algn="ctr"/>
            <a:r>
              <a:rPr lang="ja-JP" altLang="ja-JP" sz="6600" dirty="0">
                <a:latin typeface="游明朝" panose="02020400000000000000" pitchFamily="18" charset="-128"/>
                <a:ea typeface="游明朝" panose="02020400000000000000" pitchFamily="18" charset="-128"/>
              </a:rPr>
              <a:t>クレイドル・プロトコル</a:t>
            </a:r>
            <a:endParaRPr kumimoji="1" lang="ja-JP" sz="6600" noProof="0" dirty="0">
              <a:latin typeface="游明朝" panose="02020400000000000000" pitchFamily="18" charset="-128"/>
              <a:ea typeface="游明朝" panose="02020400000000000000" pitchFamily="18" charset="-128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8A048CC-7EEE-617E-81B6-A153BE2EA6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702377"/>
            <a:ext cx="12192000" cy="3155623"/>
          </a:xfrm>
        </p:spPr>
        <p:txBody>
          <a:bodyPr>
            <a:noAutofit/>
          </a:bodyPr>
          <a:lstStyle/>
          <a:p>
            <a:pPr algn="l"/>
            <a:endParaRPr lang="en-US" altLang="ja-JP" sz="1400" b="1" dirty="0"/>
          </a:p>
          <a:p>
            <a:pPr algn="l"/>
            <a:endParaRPr lang="en-US" altLang="ja-JP" sz="1400" b="1" dirty="0"/>
          </a:p>
          <a:p>
            <a:pPr algn="l"/>
            <a:r>
              <a:rPr lang="ja-JP" altLang="en-US" sz="1800" b="1" dirty="0"/>
              <a:t>立教大学　理学研究科</a:t>
            </a:r>
            <a:endParaRPr lang="en-US" altLang="ja-JP" sz="1800" b="1" dirty="0"/>
          </a:p>
          <a:p>
            <a:pPr algn="l"/>
            <a:r>
              <a:rPr lang="ja-JP" altLang="en-US" sz="1800" b="1" dirty="0"/>
              <a:t>正木</a:t>
            </a:r>
            <a:r>
              <a:rPr lang="ja-JP" altLang="ja-JP" sz="1800" b="1" dirty="0"/>
              <a:t>滉己</a:t>
            </a:r>
            <a:endParaRPr lang="en-US" altLang="ja-JP" sz="1800" b="1" dirty="0"/>
          </a:p>
          <a:p>
            <a:pPr algn="l"/>
            <a:endParaRPr lang="en-US" altLang="ja-JP" sz="1400" b="1" dirty="0"/>
          </a:p>
          <a:p>
            <a:pPr algn="l"/>
            <a:r>
              <a:rPr lang="ja-JP" altLang="ja-JP" sz="1400" b="1" dirty="0"/>
              <a:t>■ ジャンル</a:t>
            </a:r>
            <a:r>
              <a:rPr lang="ja-JP" altLang="en-US" sz="1400" dirty="0"/>
              <a:t>：</a:t>
            </a:r>
            <a:r>
              <a:rPr lang="ja-JP" altLang="ja-JP" sz="1400" dirty="0"/>
              <a:t>SFサスペンス・</a:t>
            </a:r>
            <a:r>
              <a:rPr lang="ja-JP" altLang="en-US" sz="1400" dirty="0"/>
              <a:t>３</a:t>
            </a:r>
            <a:r>
              <a:rPr lang="en-US" altLang="ja-JP" sz="1400" dirty="0"/>
              <a:t>D</a:t>
            </a:r>
            <a:r>
              <a:rPr lang="ja-JP" altLang="ja-JP" sz="1400" dirty="0"/>
              <a:t>探索アドベンチャー</a:t>
            </a:r>
          </a:p>
          <a:p>
            <a:pPr algn="l"/>
            <a:r>
              <a:rPr lang="ja-JP" altLang="ja-JP" sz="1400" b="1" dirty="0"/>
              <a:t>■ プラットフォーム / 開発環境</a:t>
            </a:r>
            <a:r>
              <a:rPr lang="ja-JP" altLang="ja-JP" sz="1400" dirty="0"/>
              <a:t> PC</a:t>
            </a:r>
            <a:r>
              <a:rPr lang="ja-JP" altLang="en-US" sz="1400" dirty="0"/>
              <a:t>：</a:t>
            </a:r>
            <a:r>
              <a:rPr lang="ja-JP" altLang="ja-JP" sz="1400" dirty="0"/>
              <a:t>（Steam想定） / Unity・C#</a:t>
            </a:r>
          </a:p>
          <a:p>
            <a:pPr algn="l"/>
            <a:r>
              <a:rPr lang="ja-JP" altLang="ja-JP" sz="1400" b="1" dirty="0"/>
              <a:t>■ ターゲット</a:t>
            </a:r>
            <a:r>
              <a:rPr lang="ja-JP" altLang="en-US" sz="1400" dirty="0"/>
              <a:t>：</a:t>
            </a:r>
            <a:endParaRPr lang="ja-JP" altLang="ja-JP" sz="1400" dirty="0"/>
          </a:p>
          <a:p>
            <a:pPr algn="l"/>
            <a:r>
              <a:rPr lang="ja-JP" altLang="ja-JP" sz="1400" dirty="0"/>
              <a:t>重厚なSF設定や、予想を裏切るストーリー展開（パラダイムシフト）を好むコア層のプレイヤー。</a:t>
            </a:r>
          </a:p>
          <a:p>
            <a:pPr algn="l"/>
            <a:r>
              <a:rPr lang="ja-JP" altLang="ja-JP" sz="1400" dirty="0"/>
              <a:t>閉鎖空間での緻密な探索や、NPCとの対話による物語の分岐を楽しみたいプレイヤー。</a:t>
            </a:r>
          </a:p>
          <a:p>
            <a:pPr algn="l"/>
            <a:r>
              <a:rPr lang="ja-JP" altLang="ja-JP" sz="1400" b="1" dirty="0"/>
              <a:t>■ </a:t>
            </a:r>
            <a:r>
              <a:rPr lang="ja-JP" altLang="en-US" sz="1400" b="1" dirty="0"/>
              <a:t>プレイ人数</a:t>
            </a:r>
            <a:r>
              <a:rPr lang="ja-JP" altLang="en-US" sz="1400" dirty="0"/>
              <a:t>：１人</a:t>
            </a:r>
            <a:endParaRPr lang="en-US" altLang="ja-JP" sz="1400" dirty="0"/>
          </a:p>
        </p:txBody>
      </p:sp>
    </p:spTree>
    <p:extLst>
      <p:ext uri="{BB962C8B-B14F-4D97-AF65-F5344CB8AC3E}">
        <p14:creationId xmlns:p14="http://schemas.microsoft.com/office/powerpoint/2010/main" val="10548313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696951-C86D-22A5-DA94-8FE5A358B6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7109"/>
            <a:ext cx="10515600" cy="695579"/>
          </a:xfrm>
        </p:spPr>
        <p:txBody>
          <a:bodyPr>
            <a:noAutofit/>
          </a:bodyPr>
          <a:lstStyle/>
          <a:p>
            <a:pPr algn="ctr"/>
            <a:r>
              <a:rPr lang="ja-JP" altLang="ja-JP" dirty="0">
                <a:latin typeface="游明朝" panose="02020400000000000000" pitchFamily="18" charset="-128"/>
                <a:ea typeface="游明朝" panose="02020400000000000000" pitchFamily="18" charset="-128"/>
              </a:rPr>
              <a:t>コンセプト</a:t>
            </a:r>
            <a:endParaRPr kumimoji="1" lang="ja-JP" altLang="en-US" dirty="0">
              <a:latin typeface="游明朝" panose="02020400000000000000" pitchFamily="18" charset="-128"/>
              <a:ea typeface="游明朝" panose="02020400000000000000" pitchFamily="18" charset="-128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33C892-4F46-5F21-9C2D-490D7D293389}"/>
              </a:ext>
            </a:extLst>
          </p:cNvPr>
          <p:cNvSpPr txBox="1"/>
          <p:nvPr/>
        </p:nvSpPr>
        <p:spPr>
          <a:xfrm>
            <a:off x="3063240" y="1097280"/>
            <a:ext cx="57241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ja-JP"/>
              <a:t>深海に沈む密室（潜水艦）で目を覚ました記憶喪失の10人——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181683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Depth">
      <a:dk1>
        <a:sysClr val="windowText" lastClr="000000"/>
      </a:dk1>
      <a:lt1>
        <a:sysClr val="window" lastClr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pth" id="{7BEAFC2A-325C-49C4-AC08-2B765DA903F9}" vid="{1735E755-43E6-43AA-ABA2-C989ECC79A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TM04033923[[fn=Depth]]</Template>
  <TotalTime>352</TotalTime>
  <Words>219</Words>
  <Application>Microsoft Office PowerPoint</Application>
  <PresentationFormat>Widescreen</PresentationFormat>
  <Paragraphs>14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游明朝</vt:lpstr>
      <vt:lpstr>Arial</vt:lpstr>
      <vt:lpstr>Corbel</vt:lpstr>
      <vt:lpstr>Depth</vt:lpstr>
      <vt:lpstr>クレイドル・プロトコル</vt:lpstr>
      <vt:lpstr>コンセプト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KOUKI MASAKI</dc:creator>
  <cp:lastModifiedBy>KOUKI MASAKI</cp:lastModifiedBy>
  <cp:revision>2</cp:revision>
  <dcterms:created xsi:type="dcterms:W3CDTF">2026-06-14T04:57:15Z</dcterms:created>
  <dcterms:modified xsi:type="dcterms:W3CDTF">2026-06-14T10:50:03Z</dcterms:modified>
</cp:coreProperties>
</file>